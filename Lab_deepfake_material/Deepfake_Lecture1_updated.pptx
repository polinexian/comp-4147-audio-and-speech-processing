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339" r:id="rId4"/>
    <p:sldId id="257" r:id="rId5"/>
    <p:sldId id="258" r:id="rId6"/>
    <p:sldId id="259" r:id="rId7"/>
    <p:sldId id="260" r:id="rId8"/>
    <p:sldId id="261" r:id="rId9"/>
    <p:sldId id="338" r:id="rId10"/>
    <p:sldId id="262" r:id="rId11"/>
    <p:sldId id="337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313" r:id="rId23"/>
    <p:sldId id="314" r:id="rId24"/>
    <p:sldId id="343" r:id="rId25"/>
    <p:sldId id="276" r:id="rId26"/>
    <p:sldId id="322" r:id="rId27"/>
    <p:sldId id="319" r:id="rId28"/>
    <p:sldId id="320" r:id="rId29"/>
    <p:sldId id="342" r:id="rId30"/>
    <p:sldId id="278" r:id="rId31"/>
    <p:sldId id="323" r:id="rId32"/>
    <p:sldId id="279" r:id="rId33"/>
    <p:sldId id="280" r:id="rId34"/>
    <p:sldId id="315" r:id="rId35"/>
    <p:sldId id="316" r:id="rId36"/>
    <p:sldId id="341" r:id="rId37"/>
    <p:sldId id="336" r:id="rId38"/>
    <p:sldId id="284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285" r:id="rId48"/>
    <p:sldId id="286" r:id="rId49"/>
    <p:sldId id="287" r:id="rId50"/>
    <p:sldId id="335" r:id="rId51"/>
    <p:sldId id="282" r:id="rId52"/>
    <p:sldId id="291" r:id="rId53"/>
    <p:sldId id="317" r:id="rId54"/>
    <p:sldId id="318" r:id="rId55"/>
    <p:sldId id="340" r:id="rId56"/>
    <p:sldId id="292" r:id="rId57"/>
    <p:sldId id="334" r:id="rId58"/>
    <p:sldId id="294" r:id="rId59"/>
    <p:sldId id="295" r:id="rId60"/>
    <p:sldId id="296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33" r:id="rId70"/>
    <p:sldId id="297" r:id="rId71"/>
    <p:sldId id="308" r:id="rId72"/>
    <p:sldId id="309" r:id="rId73"/>
    <p:sldId id="310" r:id="rId74"/>
    <p:sldId id="311" r:id="rId75"/>
    <p:sldId id="312" r:id="rId76"/>
    <p:sldId id="321" r:id="rId77"/>
    <p:sldId id="332" r:id="rId7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6.xml"/><Relationship Id="rId79" Type="http://schemas.openxmlformats.org/officeDocument/2006/relationships/presProps" Target="presProps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media" Target="../media/audio2.wav"/><Relationship Id="rId4" Type="http://schemas.openxmlformats.org/officeDocument/2006/relationships/audio" Target="../media/audio2.wav"/><Relationship Id="rId3" Type="http://schemas.openxmlformats.org/officeDocument/2006/relationships/image" Target="../media/image5.png"/><Relationship Id="rId2" Type="http://schemas.microsoft.com/office/2007/relationships/media" Target="../media/audio1.wav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media" Target="../media/audio4.wav"/><Relationship Id="rId4" Type="http://schemas.openxmlformats.org/officeDocument/2006/relationships/audio" Target="../media/audio4.wav"/><Relationship Id="rId3" Type="http://schemas.openxmlformats.org/officeDocument/2006/relationships/image" Target="../media/image5.png"/><Relationship Id="rId2" Type="http://schemas.microsoft.com/office/2007/relationships/media" Target="../media/audio3.wav"/><Relationship Id="rId1" Type="http://schemas.openxmlformats.org/officeDocument/2006/relationships/audio" Target="../media/audio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media" Target="../media/audio6.wav"/><Relationship Id="rId4" Type="http://schemas.openxmlformats.org/officeDocument/2006/relationships/audio" Target="../media/audio6.wav"/><Relationship Id="rId3" Type="http://schemas.openxmlformats.org/officeDocument/2006/relationships/image" Target="../media/image12.png"/><Relationship Id="rId2" Type="http://schemas.microsoft.com/office/2007/relationships/media" Target="../media/audio5.wav"/><Relationship Id="rId1" Type="http://schemas.openxmlformats.org/officeDocument/2006/relationships/audio" Target="../media/audio5.wav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media" Target="../media/audio8.wav"/><Relationship Id="rId4" Type="http://schemas.openxmlformats.org/officeDocument/2006/relationships/audio" Target="../media/audio8.wav"/><Relationship Id="rId3" Type="http://schemas.openxmlformats.org/officeDocument/2006/relationships/image" Target="../media/image12.png"/><Relationship Id="rId2" Type="http://schemas.microsoft.com/office/2007/relationships/media" Target="../media/audio7.wav"/><Relationship Id="rId1" Type="http://schemas.openxmlformats.org/officeDocument/2006/relationships/audio" Target="../media/audio7.wav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media" Target="../media/audio10.wav"/><Relationship Id="rId4" Type="http://schemas.openxmlformats.org/officeDocument/2006/relationships/audio" Target="../media/audio10.wav"/><Relationship Id="rId3" Type="http://schemas.openxmlformats.org/officeDocument/2006/relationships/image" Target="../media/image12.png"/><Relationship Id="rId2" Type="http://schemas.microsoft.com/office/2007/relationships/media" Target="../media/audio9.wav"/><Relationship Id="rId1" Type="http://schemas.openxmlformats.org/officeDocument/2006/relationships/audio" Target="../media/audio9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5544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6774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6100" i="0">
                <a:solidFill>
                  <a:srgbClr val="0F172A"/>
                </a:solidFill>
                <a:latin typeface="Calibri"/>
              </a:rPr>
              <a:t>Audio Deepfake Detection</a:t>
            </a:r>
            <a:endParaRPr sz="6100" i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01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0:00 – 0:15  ·  15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Welcome &amp; Context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Icebreaker poll + overview of the two modules.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1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2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COURSE OVERVIEW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Two Modules  ·  One Goal: Tell Real from Fake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745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293B"/>
                </a:solidFill>
                <a:latin typeface="Calibri"/>
              </a:rPr>
              <a:t>A six-hour workshop in two modules — </a:t>
            </a:r>
            <a:r>
              <a:rPr sz="1900" i="0">
                <a:solidFill>
                  <a:srgbClr val="1E40AF"/>
                </a:solidFill>
                <a:latin typeface="Calibri"/>
              </a:rPr>
              <a:t>generation &amp; attacks</a:t>
            </a:r>
            <a:r>
              <a:rPr sz="1900" i="0">
                <a:solidFill>
                  <a:srgbClr val="1E293B"/>
                </a:solidFill>
                <a:latin typeface="Calibri"/>
              </a:rPr>
              <a:t> first, then </a:t>
            </a:r>
            <a:r>
              <a:rPr sz="1900" i="0">
                <a:solidFill>
                  <a:srgbClr val="2563EB"/>
                </a:solidFill>
                <a:latin typeface="Calibri"/>
              </a:rPr>
              <a:t>detection &amp; evaluation</a:t>
            </a:r>
            <a:r>
              <a:rPr sz="1900" i="0">
                <a:solidFill>
                  <a:srgbClr val="1E293B"/>
                </a:solidFill>
                <a:latin typeface="Calibri"/>
              </a:rPr>
              <a:t>.</a:t>
            </a:r>
            <a:endParaRPr sz="19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0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769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MODULE 1   ·   ~3 HOURS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" y="248716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025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1E40AF"/>
                </a:solidFill>
                <a:latin typeface="Calibri"/>
              </a:rPr>
              <a:t>How Fake Voices Are Made</a:t>
            </a:r>
            <a:endParaRPr sz="23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" y="3127248"/>
            <a:ext cx="5029200" cy="28803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Evolution &amp; societal impact of voice synthesis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Text-to-Speech (TTS): text → waveform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Voice Conversion (VC): swap the speaker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Logical Access (LA) &amp; Replay attacks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The artifacts each method leaves behind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4864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28800"/>
            <a:ext cx="548640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874519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769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MODULE 2   ·   ~3 HOURS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83096" y="248716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025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2563EB"/>
                </a:solidFill>
                <a:latin typeface="Calibri"/>
              </a:rPr>
              <a:t>How We Detect Them</a:t>
            </a:r>
            <a:endParaRPr sz="23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83096" y="3127248"/>
            <a:ext cx="5029200" cy="28803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The passive detection pipeline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Features: CQCC / LFCC → Wav2Vec2 / XLS-R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ASVspoof datasets &amp; train / dev / eval splits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Evaluation: EER, t-DCF, AUC + generalization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SincNet → RawNet → AASIST (end-to-end)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6263640"/>
            <a:ext cx="11091672" cy="3840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846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40AF"/>
                </a:solidFill>
                <a:latin typeface="Calibri"/>
              </a:rPr>
              <a:t>Both modules end with a hands-on lab and a worked example with answers.</a:t>
            </a:r>
            <a:endParaRPr sz="1700" i="0">
              <a:solidFill>
                <a:srgbClr val="1E40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LEARNING OUTCOMES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By the End, You Will Be Able To…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81328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Explain </a:t>
            </a:r>
            <a:r>
              <a:rPr sz="2000" i="0">
                <a:solidFill>
                  <a:srgbClr val="1E293B"/>
                </a:solidFill>
                <a:latin typeface="Calibri"/>
              </a:rPr>
              <a:t>how TTS and Voice Conversion synthesise or clone speech — and the spectral, temporal, phase and prosodic artifacts each leaves behind.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231136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31136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31136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Distinguish </a:t>
            </a:r>
            <a:r>
              <a:rPr sz="2000" i="0">
                <a:solidFill>
                  <a:srgbClr val="1E293B"/>
                </a:solidFill>
                <a:latin typeface="Calibri"/>
              </a:rPr>
              <a:t>the four attack scenarios (Logical Access, Physical Access, Replay, Deepfake) and what signal each exposes.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980944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80944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80944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Build </a:t>
            </a:r>
            <a:r>
              <a:rPr sz="2000" i="0">
                <a:solidFill>
                  <a:srgbClr val="1E293B"/>
                </a:solidFill>
                <a:latin typeface="Calibri"/>
              </a:rPr>
              <a:t>a passive detector: extract features, train a classifier, and output a real / fake score.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30752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Evaluate </a:t>
            </a:r>
            <a:r>
              <a:rPr sz="2000" i="0">
                <a:solidFill>
                  <a:srgbClr val="1E293B"/>
                </a:solidFill>
                <a:latin typeface="Calibri"/>
              </a:rPr>
              <a:t>a detector with EER, t-DCF and AUC — and reason about the cross-dataset generalization gap.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Trace </a:t>
            </a:r>
            <a:r>
              <a:rPr sz="2000" i="0">
                <a:solidFill>
                  <a:srgbClr val="1E293B"/>
                </a:solidFill>
                <a:latin typeface="Calibri"/>
              </a:rPr>
              <a:t>the progression from hand-crafted features → SincNet → RawNet → AASIST toward end-to-end detection.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100584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30368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221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Connect </a:t>
            </a:r>
            <a:r>
              <a:rPr sz="2000" i="0">
                <a:solidFill>
                  <a:srgbClr val="1E293B"/>
                </a:solidFill>
                <a:latin typeface="Calibri"/>
              </a:rPr>
              <a:t>detection to real-world security: voice-cloning fraud, biometric spoofing, and robustness under noise &amp; compression.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WHAT IS IT  ·  1 OF 3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What is Audio Deepfake Detection?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728" cy="1188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1E40AF"/>
                </a:solidFill>
                <a:latin typeface="Calibri"/>
              </a:rPr>
              <a:t>Audio deepfake detection</a:t>
            </a:r>
            <a:r>
              <a:rPr sz="2200" i="0">
                <a:solidFill>
                  <a:srgbClr val="1E293B"/>
                </a:solidFill>
                <a:latin typeface="Calibri"/>
              </a:rPr>
              <a:t>  =  automatically deciding whether a voice clip is </a:t>
            </a:r>
            <a:r>
              <a:rPr sz="2200" i="0">
                <a:solidFill>
                  <a:srgbClr val="0F172A"/>
                </a:solidFill>
                <a:latin typeface="Calibri"/>
              </a:rPr>
              <a:t>genuine human speech</a:t>
            </a:r>
            <a:r>
              <a:rPr sz="2200" i="0">
                <a:solidFill>
                  <a:srgbClr val="1E293B"/>
                </a:solidFill>
                <a:latin typeface="Calibri"/>
              </a:rPr>
              <a:t> or </a:t>
            </a:r>
            <a:r>
              <a:rPr sz="2200" i="0">
                <a:solidFill>
                  <a:srgbClr val="0F172A"/>
                </a:solidFill>
                <a:latin typeface="Calibri"/>
              </a:rPr>
              <a:t>AI-synthesised / manipulated audio</a:t>
            </a:r>
            <a:r>
              <a:rPr sz="2200" i="0">
                <a:solidFill>
                  <a:srgbClr val="1E293B"/>
                </a:solidFill>
                <a:latin typeface="Calibri"/>
              </a:rPr>
              <a:t>.</a:t>
            </a:r>
            <a:endParaRPr sz="22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71818" y="2651760"/>
            <a:ext cx="9109324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_detection_workflo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538" y="2697480"/>
            <a:ext cx="9017884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563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A detector takes one audio clip → extracts features → classifies it as REAL or FAKE.  (Zhang et al., Sensors 2025, CC BY 4.0)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normAutofit fontScale="63984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Why automatic?  </a:t>
            </a:r>
            <a:r>
              <a:rPr sz="1300">
                <a:solidFill>
                  <a:srgbClr val="1E293B"/>
                </a:solidFill>
                <a:latin typeface="Calibri"/>
              </a:rPr>
              <a:t>humans correctly spot fake speech only ~73% of the time — too unreliable to guard a phone line or a bank.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One clip, one decision:  </a:t>
            </a:r>
            <a:r>
              <a:rPr sz="1300">
                <a:solidFill>
                  <a:srgbClr val="1E293B"/>
                </a:solidFill>
                <a:latin typeface="Calibri"/>
              </a:rPr>
              <a:t>the detector outputs a single real/fake verdict in real time — the job of every countermeasure in this course.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WHAT IS IT  ·  2 OF 3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What is Audio Deepfake Detection?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848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To detect a fake, you first have to know how it is made.  </a:t>
            </a:r>
            <a:r>
              <a:rPr sz="2000" i="0">
                <a:solidFill>
                  <a:srgbClr val="0F172A"/>
                </a:solidFill>
                <a:latin typeface="Calibri"/>
              </a:rPr>
              <a:t>Two engines create almost all fake speech: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618698" y="1828799"/>
            <a:ext cx="7015563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_tts_vc_overvie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418" y="1874519"/>
            <a:ext cx="6924123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51959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Audio deepfake types: (a) text-to-speech  (b) voice conversion  (c–e) emotion / scene / partial fakes.  (Zhang et al., Sensors 2025, CC BY 4.0)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100584" cy="1188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67258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Text-to-Speech (TTS)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5038344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927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Reads text in a voice that needs no original recording — the whole signal is synthesised from scratch.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45352" y="45720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4572000"/>
            <a:ext cx="100584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67258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Voice Conversion (VC)</a:t>
            </a:r>
            <a:endParaRPr sz="20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83096" y="5038344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927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Takes a real recording and re-renders it in someone else's voice — keeps the words, swaps the speaker.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60"/>
            <a:ext cx="11091672" cy="457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369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2563EB"/>
                </a:solidFill>
                <a:latin typeface="Calibri"/>
              </a:rPr>
              <a:t>Beyond TTS &amp; VC:  </a:t>
            </a:r>
            <a:r>
              <a:rPr sz="1700" i="0">
                <a:solidFill>
                  <a:srgbClr val="1E293B"/>
                </a:solidFill>
                <a:latin typeface="Calibri"/>
              </a:rPr>
              <a:t>emotion / scene / partially-faked audio change only PART of a genuine clip — even harder to catch.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WHAT IS IT  ·  3 OF 3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What is Audio Deepfake Detection?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848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Cloning a voice now needs only </a:t>
            </a:r>
            <a:r>
              <a:rPr sz="2000" i="0">
                <a:solidFill>
                  <a:srgbClr val="1E40AF"/>
                </a:solidFill>
                <a:latin typeface="Calibri"/>
              </a:rPr>
              <a:t>seconds of audio</a:t>
            </a:r>
            <a:r>
              <a:rPr sz="2000" i="0">
                <a:solidFill>
                  <a:srgbClr val="1E293B"/>
                </a:solidFill>
                <a:latin typeface="Calibri"/>
              </a:rPr>
              <a:t> — so detection is a security problem, not a curiosity.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75700" y="1645920"/>
            <a:ext cx="67015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ik_imit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420" y="1691640"/>
            <a:ext cx="661012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Imitation-based audio deepfake generation: a few seconds of a target voice is enough to synthesise entirely new speech.  (Wikimedia Commons, CC BY-SA 4.0)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109728" cy="1234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35424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764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i="0">
                <a:solidFill>
                  <a:srgbClr val="3B82F6"/>
                </a:solidFill>
                <a:latin typeface="Calibri"/>
              </a:rPr>
              <a:t>73%</a:t>
            </a:r>
            <a:endParaRPr sz="32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25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1E293B"/>
                </a:solidFill>
                <a:latin typeface="Calibri"/>
              </a:rPr>
              <a:t>humans correctly spot fake speech — too unreliable to protect anything.</a:t>
            </a:r>
            <a:endParaRPr sz="16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6280" y="4535424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764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i="0">
                <a:solidFill>
                  <a:srgbClr val="1E40AF"/>
                </a:solidFill>
                <a:latin typeface="Calibri"/>
              </a:rPr>
              <a:t>$25.6M</a:t>
            </a:r>
            <a:endParaRPr sz="32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50749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559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1E293B"/>
                </a:solidFill>
                <a:latin typeface="Calibri"/>
              </a:rPr>
              <a:t>lost in one Hong Kong deepfake 'CFO' video call (2024).</a:t>
            </a:r>
            <a:endParaRPr sz="16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80" y="4535424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764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i="0">
                <a:solidFill>
                  <a:srgbClr val="2563EB"/>
                </a:solidFill>
                <a:latin typeface="Calibri"/>
              </a:rPr>
              <a:t>~3 sec</a:t>
            </a:r>
            <a:endParaRPr sz="32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83880" y="50749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559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1E293B"/>
                </a:solidFill>
                <a:latin typeface="Calibri"/>
              </a:rPr>
              <a:t>of audio cloned from social media — then it can say anything.</a:t>
            </a:r>
            <a:endParaRPr sz="16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760720"/>
            <a:ext cx="11091672" cy="53035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760720"/>
            <a:ext cx="128016" cy="5303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9729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550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3B82F6"/>
                </a:solidFill>
                <a:latin typeface="Calibri"/>
              </a:rPr>
              <a:t>So the task:  </a:t>
            </a:r>
            <a:r>
              <a:rPr sz="1750" i="0">
                <a:solidFill>
                  <a:srgbClr val="FFFFFF"/>
                </a:solidFill>
                <a:latin typeface="Calibri"/>
              </a:rPr>
              <a:t>build a detector that works in real time, on one clip, and generalises to voices it has never seen.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Mai et al. (2023) PLoS ONE 18:e0285333; Hong Kong Police briefing, Feb 2024; diagram: Wikimedia Commons (CC BY-SA 4.0)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02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0:15 – 0:50  ·  35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Evolution &amp; Societal Impacts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History of voice synthesis; real-world harms; ethics &amp; regulation.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2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8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ETHICS &amp; REGULATION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Laws Restricting Audio Deepfakes — by Jurisdiction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67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1">
                <a:solidFill>
                  <a:srgbClr val="64748B"/>
                </a:solidFill>
                <a:latin typeface="Calibri"/>
              </a:rPr>
              <a:t>Four jurisdictions, one shared idea: </a:t>
            </a:r>
            <a:r>
              <a:rPr sz="1850" i="0">
                <a:solidFill>
                  <a:srgbClr val="0F172A"/>
                </a:solidFill>
                <a:latin typeface="Calibri"/>
              </a:rPr>
              <a:t>label synthetic audio, get consent, keep provenance.</a:t>
            </a:r>
            <a:endParaRPr sz="18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091672" cy="1124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18872" cy="112471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77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40AF"/>
                </a:solidFill>
                <a:latin typeface="Calibri"/>
              </a:rPr>
              <a:t>European Union   ·   AI Act (Reg. 2024/1689)   ·   in force Aug 2024</a:t>
            </a:r>
            <a:endParaRPr sz="18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1E293B"/>
                </a:solidFill>
                <a:latin typeface="Calibri"/>
              </a:rPr>
              <a:t>Art. 50 transparency — deepfake audio/video must be labelled as AI-generated, and altered election media disclosed. Non-compliance fines reach up to €35M or 7% of global turnover.</a:t>
            </a:r>
            <a:endParaRPr sz="16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816352"/>
            <a:ext cx="11091672" cy="1124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16352"/>
            <a:ext cx="118872" cy="11247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9504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77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2563EB"/>
                </a:solidFill>
                <a:latin typeface="Calibri"/>
              </a:rPr>
              <a:t>United States   ·   Federal (FCC / FTC) + State laws   ·   2024–25</a:t>
            </a:r>
            <a:endParaRPr sz="185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1E293B"/>
                </a:solidFill>
                <a:latin typeface="Calibri"/>
              </a:rPr>
              <a:t>FCC (2024): AI-voice robocalls illegal under the TCPA (fake Biden case). FTC §5 bans deceptive AI voices; Take It Down Act (2025) mandates 48h removal of intimate deepfakes. States (CA, TX, MN) add liability.</a:t>
            </a:r>
            <a:endParaRPr sz="16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005072"/>
            <a:ext cx="11091672" cy="1124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05072"/>
            <a:ext cx="118872" cy="11247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78224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77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3B82F6"/>
                </a:solidFill>
                <a:latin typeface="Calibri"/>
              </a:rPr>
              <a:t>China   ·   Deep Synthesis Provisions (CAC)   ·   2023; marking 2024</a:t>
            </a:r>
            <a:endParaRPr sz="185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1E293B"/>
                </a:solidFill>
                <a:latin typeface="Calibri"/>
              </a:rPr>
              <a:t>AI audio/video must be labelled and watermarked; deep-synthesis providers must verify users’ real identity. Using a person’s voice or likeness without consent, or publishing misleading synthetic content, is prohibited.</a:t>
            </a:r>
            <a:endParaRPr sz="16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193792"/>
            <a:ext cx="11091672" cy="1124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93792"/>
            <a:ext cx="118872" cy="112471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77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40AF"/>
                </a:solidFill>
                <a:latin typeface="Calibri"/>
              </a:rPr>
              <a:t>South Korea   ·   PIPA + AI Basic Act   ·   2020; 2025</a:t>
            </a:r>
            <a:endParaRPr sz="18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1E293B"/>
                </a:solidFill>
                <a:latin typeface="Calibri"/>
              </a:rPr>
              <a:t>Non-consensual deepfakes are a criminal offence (imprisonment + fines); 2024 rules require AI election content to be labelled. The AI Basic Act (2025, effective 2026) adds oversight of high-risk AI and transparency duties.</a:t>
            </a:r>
            <a:endParaRPr sz="16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Reg. (EU) 2024/1689 Art. 50; FCC TCPA declaratory rul. (2024); Take It Down Act Pub.L. 119-12 (2025); CAC Deep Synthesis Provisions (2023); Korea PIPA / AI Basic Act (2025)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03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0:50 – 1:20  ·  35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Key Generation Techniques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TTS, Voice Conversion, LA &amp; Replay attacks — and the artifacts each leaves behind.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3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10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ROADMAP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Three Attack Types We Will Cover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11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293B"/>
                </a:solidFill>
                <a:latin typeface="Calibri"/>
              </a:rPr>
              <a:t>Three ways a voice can be faked — each leaves different clues, so each needs a different detection strategy.</a:t>
            </a:r>
            <a:endParaRPr sz="19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6576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657600" cy="91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1E40AF"/>
                </a:solidFill>
                <a:latin typeface="Calibri"/>
              </a:rPr>
              <a:t>Text-to-Speech</a:t>
            </a:r>
            <a:endParaRPr sz="23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856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64748B"/>
                </a:solidFill>
                <a:latin typeface="Calibri"/>
              </a:rPr>
              <a:t>TTS</a:t>
            </a:r>
            <a:endParaRPr sz="18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744"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Synthesises a brand-new voice from written text. No recording of the target is needed — the entire signal is artificial.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6552" y="2011680"/>
            <a:ext cx="36576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2011680"/>
            <a:ext cx="36576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33172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2563EB"/>
                </a:solidFill>
                <a:latin typeface="Calibri"/>
              </a:rPr>
              <a:t>Voice Conversion</a:t>
            </a:r>
            <a:endParaRPr sz="23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5152" y="3063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856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64748B"/>
                </a:solidFill>
                <a:latin typeface="Calibri"/>
              </a:rPr>
              <a:t>VC</a:t>
            </a:r>
            <a:endParaRPr sz="18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5152" y="356616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Takes a real recording and re-renders it in someone else’s voice — keeping the words, swapping the speaker.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93024" y="2011680"/>
            <a:ext cx="36576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2011680"/>
            <a:ext cx="3657600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33172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3B82F6"/>
                </a:solidFill>
                <a:latin typeface="Calibri"/>
              </a:rPr>
              <a:t>Replay Attack</a:t>
            </a:r>
            <a:endParaRPr sz="23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1624" y="3063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856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64748B"/>
                </a:solidFill>
                <a:latin typeface="Calibri"/>
              </a:rPr>
              <a:t>REPLAY</a:t>
            </a:r>
            <a:endParaRPr sz="18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21624" y="356616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744"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The simplest: a genuine human voice is recorded and simply played back to the system. No AI is used, yet it still fools the verifier.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566928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3328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40AF"/>
                </a:solidFill>
                <a:latin typeface="Calibri"/>
              </a:rPr>
              <a:t>For each: how it is generated  →  what artefacts it leaves  →  how a detector catches it.</a:t>
            </a:r>
            <a:endParaRPr sz="1700" i="0">
              <a:solidFill>
                <a:srgbClr val="1E40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CONCEPT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Text-to-Speech — Three Stages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A modern neural TTS is a </a:t>
            </a:r>
            <a:r>
              <a:rPr sz="2000" i="0">
                <a:solidFill>
                  <a:srgbClr val="0F172A"/>
                </a:solidFill>
                <a:latin typeface="Calibri"/>
              </a:rPr>
              <a:t>three-stage pipeline</a:t>
            </a:r>
            <a:r>
              <a:rPr sz="2000" i="0">
                <a:solidFill>
                  <a:srgbClr val="1E293B"/>
                </a:solidFill>
                <a:latin typeface="Calibri"/>
              </a:rPr>
              <a:t> — each stage shapes how the result sounds.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6118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2563EB"/>
                </a:solidFill>
                <a:latin typeface="Calibri"/>
              </a:rPr>
              <a:t>① Text front-end</a:t>
            </a:r>
            <a:endParaRPr sz="22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337560" cy="21945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Tokens → phonemes (G2P); predict stress &amp; prosody.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0832" y="228600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286000"/>
            <a:ext cx="3611880" cy="91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1E40AF"/>
                </a:solidFill>
                <a:latin typeface="Calibri"/>
              </a:rPr>
              <a:t>② Acoustic model</a:t>
            </a:r>
            <a:endParaRPr sz="22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3063240"/>
            <a:ext cx="3337560" cy="21945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Phonemes → mel-spectrogram (the voice's time-frequency recipe).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01584" y="228600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2286000"/>
            <a:ext cx="3611880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4688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3B82F6"/>
                </a:solidFill>
                <a:latin typeface="Calibri"/>
              </a:rPr>
              <a:t>③ Vocoder</a:t>
            </a:r>
            <a:endParaRPr sz="22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84464" y="3063240"/>
            <a:ext cx="3337560" cy="21945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Spectrogram → playable waveform (phase + samples).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van den Oord et al. (2016) WaveNet arXiv:1609.03499; Shen et al. (2018) Tacotron 2 arXiv:1712.05884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BUILDING BLOCKS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Tokens &amp; Phonemes — Atoms of Text and Sound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293B"/>
                </a:solidFill>
                <a:latin typeface="Calibri"/>
              </a:rPr>
              <a:t>Before a model can </a:t>
            </a:r>
            <a:r>
              <a:rPr sz="1900" i="0">
                <a:solidFill>
                  <a:srgbClr val="2563EB"/>
                </a:solidFill>
                <a:latin typeface="Calibri"/>
              </a:rPr>
              <a:t>speak</a:t>
            </a:r>
            <a:r>
              <a:rPr sz="1900" i="0">
                <a:solidFill>
                  <a:srgbClr val="1E293B"/>
                </a:solidFill>
                <a:latin typeface="Calibri"/>
              </a:rPr>
              <a:t> a word, it first turns the text into units of </a:t>
            </a:r>
            <a:r>
              <a:rPr sz="1900" i="0">
                <a:solidFill>
                  <a:srgbClr val="2563EB"/>
                </a:solidFill>
                <a:latin typeface="Calibri"/>
              </a:rPr>
              <a:t>sound</a:t>
            </a:r>
            <a:r>
              <a:rPr sz="1900" i="0">
                <a:solidFill>
                  <a:srgbClr val="1E293B"/>
                </a:solidFill>
                <a:latin typeface="Calibri"/>
              </a:rPr>
              <a:t>.</a:t>
            </a:r>
            <a:endParaRPr sz="19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11091672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747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EXAMPLE  ·  how the word “speak” becomes sounds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2084831"/>
            <a:ext cx="13716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03119"/>
            <a:ext cx="122529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64748B"/>
                </a:solidFill>
                <a:latin typeface="Calibri"/>
              </a:rPr>
              <a:t>“speak”</a:t>
            </a:r>
            <a:endParaRPr sz="20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95728" y="2084831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64748B"/>
                </a:solidFill>
                <a:latin typeface="Calibri"/>
              </a:rPr>
              <a:t>tokenize →</a:t>
            </a:r>
            <a:endParaRPr sz="16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83280" y="2084831"/>
            <a:ext cx="1051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103119"/>
            <a:ext cx="905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[ sp ]</a:t>
            </a:r>
            <a:endParaRPr sz="20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26280" y="2084831"/>
            <a:ext cx="1051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103119"/>
            <a:ext cx="905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[ eak ]</a:t>
            </a:r>
            <a:endParaRPr sz="20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0" y="2084831"/>
            <a:ext cx="7772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64748B"/>
                </a:solidFill>
                <a:latin typeface="Calibri"/>
              </a:rPr>
              <a:t>G2P →</a:t>
            </a:r>
            <a:endParaRPr sz="16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92240" y="2084831"/>
            <a:ext cx="960120" cy="512064"/>
          </a:xfrm>
          <a:prstGeom prst="roundRect">
            <a:avLst>
              <a:gd name="adj" fmla="val 1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103119"/>
            <a:ext cx="8138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Calibri"/>
              </a:rPr>
              <a:t>/s/</a:t>
            </a:r>
            <a:endParaRPr sz="20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43800" y="2084831"/>
            <a:ext cx="960120" cy="512064"/>
          </a:xfrm>
          <a:prstGeom prst="roundRect">
            <a:avLst>
              <a:gd name="adj" fmla="val 1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103119"/>
            <a:ext cx="8138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Calibri"/>
              </a:rPr>
              <a:t>/p/</a:t>
            </a:r>
            <a:endParaRPr sz="20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95360" y="2084831"/>
            <a:ext cx="960120" cy="512064"/>
          </a:xfrm>
          <a:prstGeom prst="roundRect">
            <a:avLst>
              <a:gd name="adj" fmla="val 1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2103119"/>
            <a:ext cx="8138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Calibri"/>
              </a:rPr>
              <a:t>/iː/</a:t>
            </a:r>
            <a:endParaRPr sz="20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6920" y="2084831"/>
            <a:ext cx="960120" cy="512064"/>
          </a:xfrm>
          <a:prstGeom prst="roundRect">
            <a:avLst>
              <a:gd name="adj" fmla="val 1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103119"/>
            <a:ext cx="8138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Calibri"/>
              </a:rPr>
              <a:t>/k/</a:t>
            </a:r>
            <a:endParaRPr sz="20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2971800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2971800"/>
            <a:ext cx="54864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0449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Token  —  a unit of TEXT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3547872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The chunk of text the model reads at once.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Whole word:  </a:t>
            </a:r>
            <a:r>
              <a:rPr sz="1200">
                <a:solidFill>
                  <a:srgbClr val="1E293B"/>
                </a:solidFill>
                <a:latin typeface="Calibri"/>
              </a:rPr>
              <a:t>speak → [speak]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Sub-word (BPE):  </a:t>
            </a:r>
            <a:r>
              <a:rPr sz="1200">
                <a:solidFill>
                  <a:srgbClr val="1E293B"/>
                </a:solidFill>
                <a:latin typeface="Calibri"/>
              </a:rPr>
              <a:t>speak → [sp][eak]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Characters:  </a:t>
            </a:r>
            <a:r>
              <a:rPr sz="1200">
                <a:solidFill>
                  <a:srgbClr val="1E293B"/>
                </a:solidFill>
                <a:latin typeface="Calibri"/>
              </a:rPr>
              <a:t>speak → s p e a k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Sub-words cover any word — even unseen ones.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2971800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971800"/>
            <a:ext cx="548640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30449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Phoneme  —  a unit of SOUND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01384" y="3547872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One speech sound — the atom of pronunciation.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speak  =  </a:t>
            </a:r>
            <a:r>
              <a:rPr sz="1200">
                <a:solidFill>
                  <a:srgbClr val="1E293B"/>
                </a:solidFill>
                <a:latin typeface="Calibri"/>
              </a:rPr>
              <a:t>/s  p  iː  k/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Letter “c”:  </a:t>
            </a:r>
            <a:r>
              <a:rPr sz="1200">
                <a:solidFill>
                  <a:srgbClr val="1E293B"/>
                </a:solidFill>
                <a:latin typeface="Calibri"/>
              </a:rPr>
              <a:t>/k/ in cat,  /s/ in city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G2P:  </a:t>
            </a:r>
            <a:r>
              <a:rPr sz="1200">
                <a:solidFill>
                  <a:srgbClr val="1E293B"/>
                </a:solidFill>
                <a:latin typeface="Calibri"/>
              </a:rPr>
              <a:t>grapheme → phoneme (spelling → sound)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Tells the model how to SAY the word.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IPA chart (Intl. Phonetic Association); Sennrich et al. (2016) BPE arXiv:1508.07909; Yao &amp; Zweig (2015) G2P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ACOUSTIC MODEL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The Acoustic Model — From Phonemes to a Voice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888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293B"/>
                </a:solidFill>
                <a:latin typeface="Calibri"/>
              </a:rPr>
              <a:t>The acoustic model is the heart of TTS: it maps the </a:t>
            </a:r>
            <a:r>
              <a:rPr sz="1900" i="0">
                <a:solidFill>
                  <a:srgbClr val="1E40AF"/>
                </a:solidFill>
                <a:latin typeface="Calibri"/>
              </a:rPr>
              <a:t>phoneme sequence</a:t>
            </a:r>
            <a:r>
              <a:rPr sz="1900" i="0">
                <a:solidFill>
                  <a:srgbClr val="1E293B"/>
                </a:solidFill>
                <a:latin typeface="Calibri"/>
              </a:rPr>
              <a:t> to a </a:t>
            </a:r>
            <a:r>
              <a:rPr sz="1900" i="0">
                <a:solidFill>
                  <a:srgbClr val="1E40AF"/>
                </a:solidFill>
                <a:latin typeface="Calibri"/>
              </a:rPr>
              <a:t>mel-spectrogram</a:t>
            </a:r>
            <a:r>
              <a:rPr sz="1900" i="0">
                <a:solidFill>
                  <a:srgbClr val="1E293B"/>
                </a:solidFill>
                <a:latin typeface="Calibri"/>
              </a:rPr>
              <a:t> — a time × frequency picture of the voice.</a:t>
            </a:r>
            <a:endParaRPr sz="19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Phonemes</a:t>
            </a:r>
            <a:endParaRPr sz="19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/s p iː k/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9192" y="2066543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947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→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98648" y="173736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82880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Acoustic Model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71800" y="2231136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FFFFFF"/>
                </a:solidFill>
                <a:latin typeface="Calibri"/>
              </a:rPr>
              <a:t>neural net</a:t>
            </a:r>
            <a:endParaRPr sz="15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37760" y="2066543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947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→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7216" y="173736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182880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Mel-spectrogram</a:t>
            </a:r>
            <a:endParaRPr sz="19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30368" y="2231136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time × freq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96328" y="2066543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947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→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15784" y="173736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182880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Vocoder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88936" y="2231136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FFFFFF"/>
                </a:solidFill>
                <a:latin typeface="Calibri"/>
              </a:rPr>
              <a:t>neural net</a:t>
            </a:r>
            <a:endParaRPr sz="15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54896" y="2066543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947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→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74352" y="173736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182880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Waveform</a:t>
            </a:r>
            <a:endParaRPr sz="19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47504" y="2231136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audio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37485" y="2834640"/>
            <a:ext cx="6777990" cy="1874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elspec_spea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205" y="2880360"/>
            <a:ext cx="6686550" cy="1783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Mel-spectrogram for “speak” — the acoustic model’s output. Bright horizontal bands = vowel formants; dashed lines mark the four phonemes /s p iː k/.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5120640"/>
            <a:ext cx="11091672" cy="10058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93792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8243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What it does:  </a:t>
            </a:r>
            <a:r>
              <a:rPr sz="1850" i="0">
                <a:solidFill>
                  <a:srgbClr val="1E293B"/>
                </a:solidFill>
                <a:latin typeface="Calibri"/>
              </a:rPr>
              <a:t>a neural network (Tacotron 2, FastSpeech 2, SpeechT5) that converts the phoneme sequence into a mel-spectrogram — fixing pitch, timing, loudness and timbre. A separate </a:t>
            </a:r>
            <a:r>
              <a:rPr sz="1850" i="0">
                <a:solidFill>
                  <a:srgbClr val="3B82F6"/>
                </a:solidFill>
                <a:latin typeface="Calibri"/>
              </a:rPr>
              <a:t>vocoder</a:t>
            </a:r>
            <a:r>
              <a:rPr sz="1850" i="0">
                <a:solidFill>
                  <a:srgbClr val="1E293B"/>
                </a:solidFill>
                <a:latin typeface="Calibri"/>
              </a:rPr>
              <a:t> (HiFi-GAN, WaveNet) then turns that picture into audible waveform samples.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Shen et al. (2018) Tacotron 2 arXiv:1712.05884; Ren et al. (2020) FastSpeech 2 arXiv:2006.04558; Ao et al. (2022) SpeechT5 arXiv:2110.07205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MODEL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SpeechT5 — A Unified Speech Transformer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097280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1942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TTS is the </a:t>
            </a:r>
            <a:r>
              <a:rPr sz="1850" i="0">
                <a:solidFill>
                  <a:srgbClr val="1E40AF"/>
                </a:solidFill>
                <a:latin typeface="Calibri"/>
              </a:rPr>
              <a:t>task</a:t>
            </a:r>
            <a:r>
              <a:rPr sz="1850" i="0">
                <a:solidFill>
                  <a:srgbClr val="1E293B"/>
                </a:solidFill>
                <a:latin typeface="Calibri"/>
              </a:rPr>
              <a:t> — turning text into speech. </a:t>
            </a:r>
            <a:r>
              <a:rPr sz="1850" i="0">
                <a:solidFill>
                  <a:srgbClr val="1E40AF"/>
                </a:solidFill>
                <a:latin typeface="Calibri"/>
              </a:rPr>
              <a:t>SpeechT5</a:t>
            </a:r>
            <a:r>
              <a:rPr sz="1850" i="0">
                <a:solidFill>
                  <a:srgbClr val="1E293B"/>
                </a:solidFill>
                <a:latin typeface="Calibri"/>
              </a:rPr>
              <a:t> is one </a:t>
            </a:r>
            <a:r>
              <a:rPr sz="1850" i="0">
                <a:solidFill>
                  <a:srgbClr val="1E40AF"/>
                </a:solidFill>
                <a:latin typeface="Calibri"/>
              </a:rPr>
              <a:t>model</a:t>
            </a:r>
            <a:r>
              <a:rPr sz="1850" i="0">
                <a:solidFill>
                  <a:srgbClr val="1E293B"/>
                </a:solidFill>
                <a:latin typeface="Calibri"/>
              </a:rPr>
              <a:t> that performs it: built on T5’s encoder–decoder, it also does ASR, voice conversion and speech enhancement by swapping modular </a:t>
            </a:r>
            <a:r>
              <a:rPr sz="1850" i="0">
                <a:solidFill>
                  <a:srgbClr val="3B82F6"/>
                </a:solidFill>
                <a:latin typeface="Calibri"/>
              </a:rPr>
              <a:t>pre-/post-nets</a:t>
            </a:r>
            <a:r>
              <a:rPr sz="1850" i="0">
                <a:solidFill>
                  <a:srgbClr val="1E293B"/>
                </a:solidFill>
                <a:latin typeface="Calibri"/>
              </a:rPr>
              <a:t> around a shared core.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Text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raw words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13432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23744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Text pre-net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9464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tokens → hidden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97096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07408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Encoder–Decoder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53128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shared core (T5)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80760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Speech post-net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→ mel-frames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64424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74736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Vocoder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HiFi-GAN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48088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05840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Waveform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0412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audio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310128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SpeechT5 &amp; TTS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1248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TTS = the task: text → speech.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SpeechT5 = one model that does TTS.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Sits beside Tacotron 2, FastSpeech 2.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498848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98848" y="3310128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it is unified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00016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One encoder–decoder for every task.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Swap pre-/post-nets to switch task.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Trained jointly on speech–text pairs.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48472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48472" y="3310128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Deepfake angle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49640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Open weights: microsoft/speecht5_tts.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Makes clean, convincing cloned voices.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Next page: run it in 7 lines.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Ao et al. (2022) SpeechT5: Unified-Modal Encoder-Decoder Pre-Training for Spoken Language Processing, arXiv:2110.07205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CODE &amp; DEMO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Example: Synthesize Speech with SpeechT5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What the code does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Load:  </a:t>
            </a:r>
            <a:r>
              <a:rPr sz="1350">
                <a:solidFill>
                  <a:srgbClr val="1E293B"/>
                </a:solidFill>
                <a:latin typeface="Calibri"/>
              </a:rPr>
              <a:t>SpeechT5 TTS model + HiFi-GAN vocoder.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Speaker:  </a:t>
            </a:r>
            <a:r>
              <a:rPr sz="1350">
                <a:solidFill>
                  <a:srgbClr val="1E293B"/>
                </a:solidFill>
                <a:latin typeface="Calibri"/>
              </a:rPr>
              <a:t>an x-vector embedding picks the timbre.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Generate:  </a:t>
            </a:r>
            <a:r>
              <a:rPr sz="1350">
                <a:solidFill>
                  <a:srgbClr val="1E293B"/>
                </a:solidFill>
                <a:latin typeface="Calibri"/>
              </a:rPr>
              <a:t>text → acoustic model → vocoder → waveform.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Classic demo:  </a:t>
            </a:r>
            <a:r>
              <a:rPr sz="1350">
                <a:solidFill>
                  <a:srgbClr val="1E293B"/>
                </a:solidFill>
                <a:latin typeface="Calibri"/>
              </a:rPr>
              <a:t>Google Duplex (2018) booked a restaurant by phone; the human could not tell.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349240" cy="3383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9672" y="1728216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728216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8" y="1728216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73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tts_demo.py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800600" cy="2880360"/>
          </a:xfrm>
          <a:prstGeom prst="rect">
            <a:avLst/>
          </a:prstGeom>
          <a:noFill/>
        </p:spPr>
        <p:txBody>
          <a:bodyPr wrap="none">
            <a:normAutofit fontScale="64127"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64748B"/>
                </a:solidFill>
                <a:latin typeface="Menlo" panose="020B0609030804020204"/>
              </a:rPr>
              <a:t># Text-to-Speech with SpeechT5</a:t>
            </a:r>
            <a:endParaRPr sz="13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transformers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SpeechT5Processor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SpeechT5ForTextToSpeech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SpeechT5HifiGan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datasets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load_dataset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latin typeface="Menlo" panose="020B0609030804020204"/>
              </a:rPr>
              <a:t> </a:t>
            </a:r>
            <a:endParaRPr sz="13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name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"microsoft/speecht5_tts"</a:t>
            </a:r>
            <a:endParaRPr sz="1350">
              <a:solidFill>
                <a:srgbClr val="86EFAC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processor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SpeechT5Processor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from_pretrained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name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model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   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SpeechT5ForTextToSpeech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from_pretrained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name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vocoder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 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SpeechT5HifiGan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from_pretrained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"...hifigan"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latin typeface="Menlo" panose="020B0609030804020204"/>
              </a:rPr>
              <a:t> </a:t>
            </a:r>
            <a:endParaRPr sz="13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inputs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processor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"Hello, class begins now."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return_tensors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"pt"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spk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load_dataset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"Matthijs/cmu_arctic"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split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"validation"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"speaker_embeddings"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50">
                <a:solidFill>
                  <a:srgbClr val="E2E8F0"/>
                </a:solidFill>
                <a:latin typeface="Menlo" panose="020B0609030804020204"/>
              </a:rPr>
              <a:t>wav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model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generate_speech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inputs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350">
                <a:solidFill>
                  <a:srgbClr val="86EFAC"/>
                </a:solidFill>
                <a:latin typeface="Menlo" panose="020B0609030804020204"/>
              </a:rPr>
              <a:t>"input_ids"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spk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vocoder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vocoder</a:t>
            </a:r>
            <a:r>
              <a:rPr sz="13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50">
              <a:solidFill>
                <a:srgbClr val="E2E8F0"/>
              </a:solidFill>
              <a:latin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1297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0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0F172A"/>
                </a:solidFill>
                <a:latin typeface="Calibri"/>
              </a:rPr>
              <a:t>🎧  Listen: original vs. algorithm output</a:t>
            </a:r>
            <a:endParaRPr sz="18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82296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77256"/>
            <a:ext cx="44805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▶  Reference voice (real)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544068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5440680"/>
            <a:ext cx="82296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5477256"/>
            <a:ext cx="44805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▶  SpeechT5 output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pic>
        <p:nvPicPr>
          <p:cNvPr id="22" name="tts_01_original_ref.wa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21808" y="5623560"/>
            <a:ext cx="475488" cy="475488"/>
          </a:xfrm>
          <a:prstGeom prst="rect">
            <a:avLst/>
          </a:prstGeom>
        </p:spPr>
      </p:pic>
      <p:pic>
        <p:nvPicPr>
          <p:cNvPr id="23" name="tts_02_speecht5_output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99648" y="5623560"/>
            <a:ext cx="475488" cy="475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TTS  ·  MODEL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WaveNet — Generating Audio One Sample at a Time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0268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WaveNet (DeepMind, 2016) generates </a:t>
            </a:r>
            <a:r>
              <a:rPr sz="1850" i="0">
                <a:solidFill>
                  <a:srgbClr val="1E40AF"/>
                </a:solidFill>
                <a:latin typeface="Calibri"/>
              </a:rPr>
              <a:t>raw audio directly</a:t>
            </a:r>
            <a:r>
              <a:rPr sz="1850" i="0">
                <a:solidFill>
                  <a:srgbClr val="1E293B"/>
                </a:solidFill>
                <a:latin typeface="Calibri"/>
              </a:rPr>
              <a:t> — predicting one waveform sample at a time from all past samples, using stacked </a:t>
            </a:r>
            <a:r>
              <a:rPr sz="1850" i="0">
                <a:solidFill>
                  <a:srgbClr val="3B82F6"/>
                </a:solidFill>
                <a:latin typeface="Calibri"/>
              </a:rPr>
              <a:t>dilated causal convolutions</a:t>
            </a:r>
            <a:r>
              <a:rPr sz="1850" i="0">
                <a:solidFill>
                  <a:srgbClr val="1E293B"/>
                </a:solidFill>
                <a:latin typeface="Calibri"/>
              </a:rPr>
              <a:t>. It was the first neural net to sound truly human and still powers the vocoder inside TTS pipelines.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4881" y="1783080"/>
            <a:ext cx="10563198" cy="1920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avenet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01" y="1828800"/>
            <a:ext cx="10471758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49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Stacked dilated causal convolutions — each layer looks twice as far into the past, so a deep stack covers thousands of samples with few parameters.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041648"/>
            <a:ext cx="33832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41648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Causal + dilated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4617720"/>
            <a:ext cx="2980944" cy="1051560"/>
          </a:xfrm>
          <a:prstGeom prst="rect">
            <a:avLst/>
          </a:prstGeom>
          <a:noFill/>
        </p:spPr>
        <p:txBody>
          <a:bodyPr wrap="square" lIns="0" tIns="0" rIns="0" bIns="0">
            <a:normAutofit fontScale="53831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Causal: sees only the past → can generate.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Dilated: each layer doubles the look-back.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Deep stack → long history, few params.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98848" y="4041648"/>
            <a:ext cx="33832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98848" y="4041648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Autoregressive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00016" y="4617720"/>
            <a:ext cx="2980944" cy="1051560"/>
          </a:xfrm>
          <a:prstGeom prst="rect">
            <a:avLst/>
          </a:prstGeom>
          <a:noFill/>
        </p:spPr>
        <p:txBody>
          <a:bodyPr wrap="square" lIns="0" tIns="0" rIns="0" bIns="0">
            <a:normAutofit fontScale="62899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Predicts x_t from all past samples x_&lt;t.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Sample-by-sample, fed back in.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Formula on the next slide.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48472" y="4041648"/>
            <a:ext cx="33832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8472" y="4041648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it matters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4617720"/>
            <a:ext cx="2980944" cy="1051560"/>
          </a:xfrm>
          <a:prstGeom prst="rect">
            <a:avLst/>
          </a:prstGeom>
          <a:noFill/>
        </p:spPr>
        <p:txBody>
          <a:bodyPr wrap="square" lIns="0" tIns="0" rIns="0" bIns="0">
            <a:normAutofit fontScale="53831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First neural TTS to sound human (2016).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Vocoder in Tacotron 2 (mel → wave).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Backbone of neural voice cloning.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van den Oord et al. (2016) WaveNet: A Generative Model for Raw Audio, arXiv:1609.03499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FORMULA · ①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WaveNet — Autoregressive Generation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18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728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100584" cy="74980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515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8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Belongs to:  </a:t>
            </a:r>
            <a:r>
              <a:rPr sz="2000" i="0">
                <a:solidFill>
                  <a:srgbClr val="1E40AF"/>
                </a:solidFill>
                <a:latin typeface="Calibri"/>
              </a:rPr>
              <a:t>TTS — Text-to-Speech</a:t>
            </a:r>
            <a:r>
              <a:rPr sz="1700" i="0">
                <a:solidFill>
                  <a:srgbClr val="64748B"/>
                </a:solidFill>
                <a:latin typeface="Calibri"/>
              </a:rPr>
              <a:t>    —    </a:t>
            </a:r>
            <a:r>
              <a:rPr sz="1850" i="0">
                <a:solidFill>
                  <a:srgbClr val="1E293B"/>
                </a:solidFill>
                <a:latin typeface="Calibri"/>
              </a:rPr>
              <a:t>the generating rule that defines how a neural TTS makes each audio sample.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pic>
        <p:nvPicPr>
          <p:cNvPr id="10" name="Picture 9" descr="waven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554" y="2395728"/>
            <a:ext cx="4813852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4023360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0584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1E40AF"/>
                </a:solidFill>
                <a:latin typeface="Calibri"/>
              </a:rPr>
              <a:t>Symbols</a:t>
            </a:r>
            <a:endParaRPr sz="20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4078224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x = waveform; c = condition (text); t = sample index; x_{&lt;t} = past samples; T = total samples; ∏ = product over all t.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084064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84064"/>
            <a:ext cx="100584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0F172A"/>
                </a:solidFill>
                <a:latin typeface="Calibri"/>
              </a:rPr>
              <a:t>How to read it</a:t>
            </a:r>
            <a:endParaRPr sz="20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6080" y="5138928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Generate one sample at a time — each x_t depends only on the past x_{&lt;t} and condition c; multiply all step probabilities for the whole waveform.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VC  ·  PIPELINE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Voice Conversion — Change the Speaker, Keep the Words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19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8411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Voice Conversion re-renders a recording in a </a:t>
            </a:r>
            <a:r>
              <a:rPr sz="1850" i="0">
                <a:solidFill>
                  <a:srgbClr val="2563EB"/>
                </a:solidFill>
                <a:latin typeface="Calibri"/>
              </a:rPr>
              <a:t>different speaker’s voice</a:t>
            </a:r>
            <a:r>
              <a:rPr sz="1850" i="0">
                <a:solidFill>
                  <a:srgbClr val="1E293B"/>
                </a:solidFill>
                <a:latin typeface="Calibri"/>
              </a:rPr>
              <a:t>: a </a:t>
            </a:r>
            <a:r>
              <a:rPr sz="1850" i="0">
                <a:solidFill>
                  <a:srgbClr val="2563EB"/>
                </a:solidFill>
                <a:latin typeface="Calibri"/>
              </a:rPr>
              <a:t>content encoder</a:t>
            </a:r>
            <a:r>
              <a:rPr sz="1850" i="0">
                <a:solidFill>
                  <a:srgbClr val="1E293B"/>
                </a:solidFill>
                <a:latin typeface="Calibri"/>
              </a:rPr>
              <a:t> keeps what is said, a </a:t>
            </a:r>
            <a:r>
              <a:rPr sz="1850" i="0">
                <a:solidFill>
                  <a:srgbClr val="3B82F6"/>
                </a:solidFill>
                <a:latin typeface="Calibri"/>
              </a:rPr>
              <a:t>target speaker embedding</a:t>
            </a:r>
            <a:r>
              <a:rPr sz="1850" i="0">
                <a:solidFill>
                  <a:srgbClr val="1E293B"/>
                </a:solidFill>
                <a:latin typeface="Calibri"/>
              </a:rPr>
              <a:t> swaps whose voice it is, and a </a:t>
            </a:r>
            <a:r>
              <a:rPr sz="1850" i="0">
                <a:solidFill>
                  <a:srgbClr val="3B82F6"/>
                </a:solidFill>
                <a:latin typeface="Calibri"/>
              </a:rPr>
              <a:t>vocoder</a:t>
            </a:r>
            <a:r>
              <a:rPr sz="1850" i="0">
                <a:solidFill>
                  <a:srgbClr val="1E293B"/>
                </a:solidFill>
                <a:latin typeface="Calibri"/>
              </a:rPr>
              <a:t> synthesises a new waveform.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Source speech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waveform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13432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23744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464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Content encoder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9464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what is said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97096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07408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Target speaker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53128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x-vector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0760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91072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2402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Conversion model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content + speaker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64424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74736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Vocoder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0456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CycleGAN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48088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5840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2402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Converted speech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0412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new voice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310128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Keep content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Content encoder keeps the words.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Features: bottleneck / PPG / mel.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Speaker-independent — only what is said.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98848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98848" y="3310128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Swap speaker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00016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Target x-vector sets the new voice.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Model fuses content + speaker.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Same words, different identity.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348472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48472" y="3310128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Re-synthesise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9640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Vocoder renders the fused features.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Clean waveform in target voice.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Qian et al. (2019) AutoVC arXiv:1905.05879; Li et al. (2021) FreeVC arXiv:2206.08847; CycleGAN-VC / StarGAN-VC → next slides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VC  ·  CYCLEGAN-VC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CycleGAN-VC — Convert Voices Without Parallel Data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20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52144"/>
            <a:ext cx="1097280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1942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CycleGAN-VC converts a </a:t>
            </a:r>
            <a:r>
              <a:rPr sz="1850" i="0">
                <a:solidFill>
                  <a:srgbClr val="2563EB"/>
                </a:solidFill>
                <a:latin typeface="Calibri"/>
              </a:rPr>
              <a:t>source speaker</a:t>
            </a:r>
            <a:r>
              <a:rPr sz="1850" i="0">
                <a:solidFill>
                  <a:srgbClr val="1E293B"/>
                </a:solidFill>
                <a:latin typeface="Calibri"/>
              </a:rPr>
              <a:t> into a </a:t>
            </a:r>
            <a:r>
              <a:rPr sz="1850" i="0">
                <a:solidFill>
                  <a:srgbClr val="2563EB"/>
                </a:solidFill>
                <a:latin typeface="Calibri"/>
              </a:rPr>
              <a:t>target speaker</a:t>
            </a:r>
            <a:r>
              <a:rPr sz="1850" i="0">
                <a:solidFill>
                  <a:srgbClr val="1E293B"/>
                </a:solidFill>
                <a:latin typeface="Calibri"/>
              </a:rPr>
              <a:t> with two generators (source↔target) and two discriminators, tied by </a:t>
            </a:r>
            <a:r>
              <a:rPr sz="1850" i="0">
                <a:solidFill>
                  <a:srgbClr val="3B82F6"/>
                </a:solidFill>
                <a:latin typeface="Calibri"/>
              </a:rPr>
              <a:t>cycle-consistency</a:t>
            </a:r>
            <a:r>
              <a:rPr sz="1850" i="0">
                <a:solidFill>
                  <a:srgbClr val="1E293B"/>
                </a:solidFill>
                <a:latin typeface="Calibri"/>
              </a:rPr>
              <a:t> — it needs no parallel recordings (the same sentences spoken by both).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Source X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your voice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13432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23744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464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G_ST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9464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X → fake Y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97096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07408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Fake Y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53128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target voice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0760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91072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G_TS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Y → fake X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64424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74736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Recon X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0456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≈ Source X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48088" y="2322576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→</a:t>
            </a:r>
            <a:endParaRPr sz="20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58400" y="201168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09397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D_S , D_T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04120" y="24780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FFFFFF"/>
                </a:solidFill>
                <a:latin typeface="Calibri"/>
              </a:rPr>
              <a:t>real vs fake</a:t>
            </a:r>
            <a:endParaRPr sz="150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310128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Cycle consistency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Round-trip G_TS(G_ST(x)) ≈ x.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Preserves the linguistic content.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Forces a realistic, faithful conversion.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98848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98848" y="3310128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Adversarial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00016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D_T pushes Fake Y toward a real target.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D_S judges reconstructions of X.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2563EB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Each D tells real from converted.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348472" y="3310128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48472" y="3310128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No parallel data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9640" y="388620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normAutofit fontScale="8723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Trains on separate source &amp; target sets.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Same sentences by both NOT needed.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Only a few samples of each speaker.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Kaneko &amp; Kameoka (2018) CycleGAN-VC arXiv:1711.11294; Zhu et al. (2017) CycleGAN arXiv:1703.10593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Q1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Question 1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293B"/>
                </a:solidFill>
                <a:latin typeface="Calibri"/>
              </a:rPr>
              <a:t>A text-to-speech system can read the SAME sentence in many different people’s voices.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2563EB"/>
                </a:solidFill>
                <a:latin typeface="Calibri"/>
              </a:rPr>
              <a:t>▶  Question:  </a:t>
            </a:r>
            <a:r>
              <a:rPr sz="2050" i="0">
                <a:solidFill>
                  <a:srgbClr val="0F172A"/>
                </a:solidFill>
                <a:latin typeface="Calibri"/>
              </a:rPr>
              <a:t>what does the system change to switch from one speaker to another?</a:t>
            </a:r>
            <a:endParaRPr sz="205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i="1">
                <a:solidFill>
                  <a:srgbClr val="64748B"/>
                </a:solidFill>
                <a:latin typeface="Calibri"/>
              </a:rPr>
              <a:t>And in Voice Conversion (turning a recording into someone else’s voice) — what does it swap?</a:t>
            </a:r>
            <a:endParaRPr sz="19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Q1  —  Answer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Answer 1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2563EB"/>
                </a:solidFill>
                <a:latin typeface="Calibri"/>
              </a:rPr>
              <a:t>TTS:  </a:t>
            </a:r>
            <a:r>
              <a:rPr sz="2100" i="0">
                <a:solidFill>
                  <a:srgbClr val="1E293B"/>
                </a:solidFill>
                <a:latin typeface="Calibri"/>
              </a:rPr>
              <a:t>it swaps the </a:t>
            </a:r>
            <a:r>
              <a:rPr sz="2100" i="0">
                <a:solidFill>
                  <a:srgbClr val="2563EB"/>
                </a:solidFill>
                <a:latin typeface="Calibri"/>
              </a:rPr>
              <a:t>speaker embedding</a:t>
            </a:r>
            <a:r>
              <a:rPr sz="2100" i="0">
                <a:solidFill>
                  <a:srgbClr val="1E293B"/>
                </a:solidFill>
                <a:latin typeface="Calibri"/>
              </a:rPr>
              <a:t> — a small vector (an “x-vector”) that stands for “whose voice”. Same text + different embedding → different voice.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2563EB"/>
                </a:solidFill>
                <a:latin typeface="Calibri"/>
              </a:rPr>
              <a:t>Voice Conversion:  </a:t>
            </a:r>
            <a:r>
              <a:rPr sz="2100" i="0">
                <a:solidFill>
                  <a:srgbClr val="1E293B"/>
                </a:solidFill>
                <a:latin typeface="Calibri"/>
              </a:rPr>
              <a:t>keep the content (z_c = what is said), swap in a new embedding (e_tgt = whose voice), then regenerate the audio.</a:t>
            </a:r>
            <a:endParaRPr sz="21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42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700" i="0">
                <a:solidFill>
                  <a:srgbClr val="FDE2E2"/>
                </a:solidFill>
                <a:latin typeface="Calibri"/>
              </a:rPr>
              <a:t>M1  ·  CHALLENGE  ·  QUANTITATIVE</a:t>
            </a:r>
            <a:endParaRPr sz="17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880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800" i="0">
                <a:solidFill>
                  <a:srgbClr val="FFFFFF"/>
                </a:solidFill>
                <a:latin typeface="Calibri"/>
              </a:rPr>
              <a:t>WaveNet — Joint Probability of a Sequence</a:t>
            </a:r>
            <a:endParaRPr sz="28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26"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00" i="0">
                <a:solidFill>
                  <a:srgbClr val="FDE2E2"/>
                </a:solidFill>
                <a:latin typeface="Calibri"/>
              </a:rPr>
              <a:t>23  /  79</a:t>
            </a:r>
            <a:endParaRPr sz="16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152144"/>
            <a:ext cx="10908792" cy="8412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52144"/>
            <a:ext cx="109728" cy="84124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8464"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Problem.  </a:t>
            </a:r>
            <a:r>
              <a:rPr sz="1750" i="0">
                <a:solidFill>
                  <a:srgbClr val="1E293B"/>
                </a:solidFill>
                <a:latin typeface="Calibri"/>
              </a:rPr>
              <a:t>A WaveNet generates 5 audio samples with conditional probabilities 0.9, 0.8, 0.75, 0.6, 0.5 (each depends on the past). (a) What is the joint probability of the whole sequence? (b) Its natural-log probability? (c) A spoof clip scores a joint probability of 0.10 — which clip is more likely to be real?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39696"/>
            <a:ext cx="10908792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39696"/>
            <a:ext cx="1090879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458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Worked solution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743200"/>
            <a:ext cx="10424160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1.  </a:t>
            </a:r>
            <a:r>
              <a:rPr sz="1750" i="0">
                <a:solidFill>
                  <a:srgbClr val="1E293B"/>
                </a:solidFill>
                <a:latin typeface="Calibri"/>
              </a:rPr>
              <a:t>P(x₁..x₅) = 0.9 × 0.8 × 0.75 × 0.6 × 0.5 = 0.162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2.  </a:t>
            </a:r>
            <a:r>
              <a:rPr sz="1750" i="0">
                <a:solidFill>
                  <a:srgbClr val="1E293B"/>
                </a:solidFill>
                <a:latin typeface="Calibri"/>
              </a:rPr>
              <a:t>log-prob = ln(0.162) = −1.82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3.  </a:t>
            </a:r>
            <a:r>
              <a:rPr sz="1750" i="0">
                <a:solidFill>
                  <a:srgbClr val="1E293B"/>
                </a:solidFill>
                <a:latin typeface="Calibri"/>
              </a:rPr>
              <a:t>Compare the two clips by joint probability (higher = more likely real).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4.  </a:t>
            </a:r>
            <a:r>
              <a:rPr sz="1750" i="0">
                <a:solidFill>
                  <a:srgbClr val="1E293B"/>
                </a:solidFill>
                <a:latin typeface="Calibri"/>
              </a:rPr>
              <a:t>0.162 (clip 1) &gt; 0.10 (spoof) → clip 1 is more likely real.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B4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109728" cy="65836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22976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Answer.  </a:t>
            </a:r>
            <a:r>
              <a:rPr sz="1750" i="0">
                <a:solidFill>
                  <a:srgbClr val="0F172A"/>
                </a:solidFill>
                <a:latin typeface="Calibri"/>
              </a:rPr>
              <a:t>Joint P = 0.162 (log-prob −1.82); clip 1 is more likely real than the spoof.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709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1">
                <a:solidFill>
                  <a:srgbClr val="64748B"/>
                </a:solidFill>
                <a:latin typeface="Calibri"/>
              </a:rPr>
              <a:t>Worked challenge — multi-step quantitative.  </a:t>
            </a:r>
            <a:r>
              <a:rPr sz="1400" i="1">
                <a:solidFill>
                  <a:srgbClr val="64748B"/>
                </a:solidFill>
                <a:latin typeface="Calibri"/>
              </a:rPr>
              <a:t>WaveNet: P(x)=∏ P(xₜ|x_{&lt;t},c) — slide p18.</a:t>
            </a:r>
            <a:endParaRPr sz="14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SPEAKER  ·  COSINE SIMILARITY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Cosine Similarity — Do Two Voices Point the Same Way?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152144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853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A neural net turns each voice into a list of numbers — think of it as an </a:t>
            </a:r>
            <a:r>
              <a:rPr sz="1850" i="0">
                <a:solidFill>
                  <a:srgbClr val="2563EB"/>
                </a:solidFill>
                <a:latin typeface="Calibri"/>
              </a:rPr>
              <a:t>arrow</a:t>
            </a:r>
            <a:r>
              <a:rPr sz="1850" i="0">
                <a:solidFill>
                  <a:srgbClr val="1E293B"/>
                </a:solidFill>
                <a:latin typeface="Calibri"/>
              </a:rPr>
              <a:t>. Cosine similarity simply asks: </a:t>
            </a:r>
            <a:r>
              <a:rPr sz="1850" i="0">
                <a:solidFill>
                  <a:srgbClr val="2563EB"/>
                </a:solidFill>
                <a:latin typeface="Calibri"/>
              </a:rPr>
              <a:t>do two arrows point the same way?</a:t>
            </a:r>
            <a:r>
              <a:rPr sz="1850" i="0">
                <a:solidFill>
                  <a:srgbClr val="1E293B"/>
                </a:solidFill>
                <a:latin typeface="Calibri"/>
              </a:rPr>
              <a:t>  Same direction = same speaker.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73860" y="1737360"/>
            <a:ext cx="5505240" cy="19659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sine_arrow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580" y="1783080"/>
            <a:ext cx="5413800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749039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563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The score is the cosine of the angle θ between the two arrows.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3832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36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Same voice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441655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6A34A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Two arrows nearly overlap.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6A34A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Score close to 1.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6A34A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→ same speaker.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98848" y="38404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3840480"/>
            <a:ext cx="3383280" cy="457200"/>
          </a:xfrm>
          <a:prstGeom prst="rect">
            <a:avLst/>
          </a:prstGeom>
          <a:solidFill>
            <a:srgbClr val="DC2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39136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Different voice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00016" y="441655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DC260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Arrows point apart.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DC260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Score well below 1.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DC260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→ different speaker.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48472" y="38404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8472" y="3840480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9136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direction?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9640" y="441655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 fontScale="6782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Ignores loudness and length.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Only the voice’s identity matters.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So it is robust to volume.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Speaker embeddings (x-vector) + cosine similarity — standard in ASV / ASVspoof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SPEAKER  ·  COSINE SIMILARITY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Cosine Similarity — The Score &amp; Catching a Fake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097280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1942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The score is the </a:t>
            </a:r>
            <a:r>
              <a:rPr sz="1850" i="0">
                <a:solidFill>
                  <a:srgbClr val="2563EB"/>
                </a:solidFill>
                <a:latin typeface="Calibri"/>
              </a:rPr>
              <a:t>cosine of the angle</a:t>
            </a:r>
            <a:r>
              <a:rPr sz="1850" i="0">
                <a:solidFill>
                  <a:srgbClr val="1E293B"/>
                </a:solidFill>
                <a:latin typeface="Calibri"/>
              </a:rPr>
              <a:t> between the two arrows — always between </a:t>
            </a:r>
            <a:r>
              <a:rPr sz="1850" i="0">
                <a:solidFill>
                  <a:srgbClr val="2563EB"/>
                </a:solidFill>
                <a:latin typeface="Calibri"/>
              </a:rPr>
              <a:t>−1 and +1</a:t>
            </a:r>
            <a:r>
              <a:rPr sz="1850" i="0">
                <a:solidFill>
                  <a:srgbClr val="1E293B"/>
                </a:solidFill>
                <a:latin typeface="Calibri"/>
              </a:rPr>
              <a:t>. A speaker-verifier compares a new clip to a stored reference: a high score means “same voice”, so a convincing fake scores dangerously high.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13091" y="1874520"/>
            <a:ext cx="4426778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811" y="1920240"/>
            <a:ext cx="4335338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28803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563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Top = how much the arrows agree.  Bottom = cancels out loudness and length, leaving only direction.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0704" y="3611880"/>
            <a:ext cx="5029200" cy="548640"/>
          </a:xfrm>
          <a:prstGeom prst="rect">
            <a:avLst/>
          </a:prstGeom>
          <a:solidFill>
            <a:srgbClr val="DC2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9904" y="3611880"/>
            <a:ext cx="2514600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04504" y="3611880"/>
            <a:ext cx="251460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0904" y="36118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opposite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2804" y="36118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unrelated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47404" y="36118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same voice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704" y="41970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0F172A"/>
                </a:solidFill>
                <a:latin typeface="Calibri"/>
              </a:rPr>
              <a:t>-1</a:t>
            </a:r>
            <a:endParaRPr sz="1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9904" y="41970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0F172A"/>
                </a:solidFill>
                <a:latin typeface="Calibri"/>
              </a:rPr>
              <a:t>0</a:t>
            </a:r>
            <a:endParaRPr sz="1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81944" y="41970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0F172A"/>
                </a:solidFill>
                <a:latin typeface="Calibri"/>
              </a:rPr>
              <a:t>+1</a:t>
            </a:r>
            <a:endParaRPr sz="1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454456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A real repeat of the same speaker sits near +1; a different voice drops toward 0.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489204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6519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923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2563EB"/>
                </a:solidFill>
                <a:latin typeface="Calibri"/>
              </a:rPr>
              <a:t>How detectors use it:  </a:t>
            </a:r>
            <a:r>
              <a:rPr sz="1800" i="0">
                <a:solidFill>
                  <a:srgbClr val="1E293B"/>
                </a:solidFill>
                <a:latin typeface="Calibri"/>
              </a:rPr>
              <a:t>voice-conversion and TTS training try to push this score up (fake → target). A detector flags a clip whose embedding is too close to a known target, yet lacks a real recording’s natural variability.</a:t>
            </a:r>
            <a:endParaRPr sz="18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cosine scoring on speaker embeddings — ASVspoof challenge; used in the verification code on later slides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Q4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Question 4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50" i="0">
                <a:solidFill>
                  <a:srgbClr val="1E293B"/>
                </a:solidFill>
                <a:latin typeface="Calibri"/>
              </a:rPr>
              <a:t>After Voice Conversion, we score how close the result is to the target voice:</a:t>
            </a:r>
            <a:endParaRPr sz="21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1 = identical voice,  0 = completely unrelated.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The score comes out as </a:t>
            </a:r>
            <a:r>
              <a:rPr sz="2050" i="0">
                <a:solidFill>
                  <a:srgbClr val="1E40AF"/>
                </a:solidFill>
                <a:latin typeface="Calibri"/>
              </a:rPr>
              <a:t>0.98.</a:t>
            </a:r>
            <a:endParaRPr sz="2050" i="0">
              <a:solidFill>
                <a:srgbClr val="1E40AF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i="0">
                <a:solidFill>
                  <a:srgbClr val="1E40AF"/>
                </a:solidFill>
                <a:latin typeface="Calibri"/>
              </a:rPr>
              <a:t>▶  What does 0.98 tell you?  </a:t>
            </a:r>
            <a:r>
              <a:rPr sz="2000" i="0">
                <a:solidFill>
                  <a:srgbClr val="0F172A"/>
                </a:solidFill>
                <a:latin typeface="Calibri"/>
              </a:rPr>
              <a:t>And what would a score of about 0.5 mean?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Q4  —  Answer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Answer 4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0.98 (≈ 1):  </a:t>
            </a:r>
            <a:r>
              <a:rPr sz="2100" i="0">
                <a:solidFill>
                  <a:srgbClr val="1E293B"/>
                </a:solidFill>
                <a:latin typeface="Calibri"/>
              </a:rPr>
              <a:t>the converted voice is almost identical to the target — the conversion succeeded.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≈ 0.5:  </a:t>
            </a:r>
            <a:r>
              <a:rPr sz="2100" i="0">
                <a:solidFill>
                  <a:srgbClr val="1E293B"/>
                </a:solidFill>
                <a:latin typeface="Calibri"/>
              </a:rPr>
              <a:t>only halfway similar — the target’s voice did not really transfer; the conversion mostly failed.</a:t>
            </a:r>
            <a:endParaRPr sz="21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42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700" i="0">
                <a:solidFill>
                  <a:srgbClr val="FDE2E2"/>
                </a:solidFill>
                <a:latin typeface="Calibri"/>
              </a:rPr>
              <a:t>M1  ·  CHALLENGE  ·  QUANTITATIVE</a:t>
            </a:r>
            <a:endParaRPr sz="17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880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800" i="0">
                <a:solidFill>
                  <a:srgbClr val="FFFFFF"/>
                </a:solidFill>
                <a:latin typeface="Calibri"/>
              </a:rPr>
              <a:t>Cosine Similarity — Compute It by Hand</a:t>
            </a:r>
            <a:endParaRPr sz="28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26"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00" i="0">
                <a:solidFill>
                  <a:srgbClr val="FDE2E2"/>
                </a:solidFill>
                <a:latin typeface="Calibri"/>
              </a:rPr>
              <a:t>28  /  79</a:t>
            </a:r>
            <a:endParaRPr sz="16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152144"/>
            <a:ext cx="10908792" cy="8412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52144"/>
            <a:ext cx="109728" cy="84124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602"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Problem.  </a:t>
            </a:r>
            <a:r>
              <a:rPr sz="1750" i="0">
                <a:solidFill>
                  <a:srgbClr val="1E293B"/>
                </a:solidFill>
                <a:latin typeface="Calibri"/>
              </a:rPr>
              <a:t>An enrolled speaker has embedding e = (3, 4), so |e| = 5. Three test clips arrive: a = (2, 1), b = (4, 5), c = (1, 3). Compute the cosine similarity of each to e. A clip is accepted as the same speaker only if cosine ≥ 0.95. Which clip(s) pass?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39696"/>
            <a:ext cx="10908792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39696"/>
            <a:ext cx="1090879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458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Worked solution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743200"/>
            <a:ext cx="10424160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1.  </a:t>
            </a:r>
            <a:r>
              <a:rPr sz="1750" i="0">
                <a:solidFill>
                  <a:srgbClr val="1E293B"/>
                </a:solidFill>
                <a:latin typeface="Calibri"/>
              </a:rPr>
              <a:t>cos(e,a) = (3·2 + 4·1) / (5·√5) = 10 / 11.18 = 0.894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2.  </a:t>
            </a:r>
            <a:r>
              <a:rPr sz="1750" i="0">
                <a:solidFill>
                  <a:srgbClr val="1E293B"/>
                </a:solidFill>
                <a:latin typeface="Calibri"/>
              </a:rPr>
              <a:t>cos(e,b) = (3·4 + 4·5) / (5·√41) = 32 / 32.02 = 0.999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3.  </a:t>
            </a:r>
            <a:r>
              <a:rPr sz="1750" i="0">
                <a:solidFill>
                  <a:srgbClr val="1E293B"/>
                </a:solidFill>
                <a:latin typeface="Calibri"/>
              </a:rPr>
              <a:t>cos(e,c) = (3·1 + 4·3) / (5·√10) = 15 / 15.81 = 0.949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4.  </a:t>
            </a:r>
            <a:r>
              <a:rPr sz="1750" i="0">
                <a:solidFill>
                  <a:srgbClr val="1E293B"/>
                </a:solidFill>
                <a:latin typeface="Calibri"/>
              </a:rPr>
              <a:t>Threshold check: only b (0.999) ≥ 0.95.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B4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109728" cy="65836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22976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Answer.  </a:t>
            </a:r>
            <a:r>
              <a:rPr sz="1750" i="0">
                <a:solidFill>
                  <a:srgbClr val="0F172A"/>
                </a:solidFill>
                <a:latin typeface="Calibri"/>
              </a:rPr>
              <a:t>Only clip b passes (cos 0.999); a = 0.894 and c = 0.949 are rejected.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709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1">
                <a:solidFill>
                  <a:srgbClr val="64748B"/>
                </a:solidFill>
                <a:latin typeface="Calibri"/>
              </a:rPr>
              <a:t>Worked challenge — multi-step quantitative.  </a:t>
            </a:r>
            <a:r>
              <a:rPr sz="1400" i="1">
                <a:solidFill>
                  <a:srgbClr val="64748B"/>
                </a:solidFill>
                <a:latin typeface="Calibri"/>
              </a:rPr>
              <a:t>cos(θ)=e·v/(|e||v|) — slides p21–22.</a:t>
            </a:r>
            <a:endParaRPr sz="14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REPLAY  ·  CONCEPT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Replay Attack — Record a Real Voice, Play It Back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29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52144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0738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A replay attack is the </a:t>
            </a:r>
            <a:r>
              <a:rPr sz="1850" i="0">
                <a:solidFill>
                  <a:srgbClr val="3B82F6"/>
                </a:solidFill>
                <a:latin typeface="Calibri"/>
              </a:rPr>
              <a:t>simplest spoof</a:t>
            </a:r>
            <a:r>
              <a:rPr sz="1850" i="0">
                <a:solidFill>
                  <a:srgbClr val="1E293B"/>
                </a:solidFill>
                <a:latin typeface="Calibri"/>
              </a:rPr>
              <a:t>: record a genuine human utterance, then play it back to the voice verifier. </a:t>
            </a:r>
            <a:r>
              <a:rPr sz="1850" i="0">
                <a:solidFill>
                  <a:srgbClr val="3B82F6"/>
                </a:solidFill>
                <a:latin typeface="Calibri"/>
              </a:rPr>
              <a:t>No AI is used</a:t>
            </a:r>
            <a:r>
              <a:rPr sz="1850" i="0">
                <a:solidFill>
                  <a:srgbClr val="1E293B"/>
                </a:solidFill>
                <a:latin typeface="Calibri"/>
              </a:rPr>
              <a:t> — the voice is 100% real, so words, prosody and timbre are genuine. It fools any system that only asks ‘does this match the enrolled voice?’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08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Genuine speech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real utterance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9192" y="2249424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98648" y="1938528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0208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Record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44368" y="24048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→ wav file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2249424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57216" y="1938528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20208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Speaker + Room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02936" y="24048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FFFFFF"/>
                </a:solidFill>
                <a:latin typeface="Calibri"/>
              </a:rPr>
              <a:t>the 2nd channel</a:t>
            </a:r>
            <a:endParaRPr sz="15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249424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15784" y="1938528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20208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Verifier mic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61504" y="24048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records it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54896" y="2249424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1911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74352" y="1938528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0208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System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563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1">
                <a:solidFill>
                  <a:srgbClr val="64748B"/>
                </a:solidFill>
                <a:latin typeface="Calibri"/>
              </a:rPr>
              <a:t>decides</a:t>
            </a:r>
            <a:endParaRPr sz="15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0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0F172A"/>
                </a:solidFill>
                <a:latin typeface="Calibri"/>
              </a:rPr>
              <a:t>Classification — by playback chain (easy → hard to detect)</a:t>
            </a:r>
            <a:endParaRPr sz="18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3429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02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Phone → phone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" y="400507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 fontScale="6782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Tiny speaker, compressed, band-limited.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Strongest channel coloration.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Easiest to detect.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98848" y="3429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98848" y="3429000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3502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Speaker, quiet room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00016" y="400507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 fontScale="6782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External / Bluetooth speaker.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Cleaner playback, less coloration.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Medium difficulty.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348472" y="34290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48472" y="3429000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502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Studio monitor + mic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4005072"/>
            <a:ext cx="2980944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Hi-fi playback, low reverb.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Weak channel signature.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Hardest to detect.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ASVspoof 2017 Physical-Access (PA) replay corpus; Chen et al. (2015) CQCC features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REPLAY  ·  DETECTION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The Second Channel — How a Replay Gives Itself Away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30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800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The replayed voice is genuinely human, so there is </a:t>
            </a:r>
            <a:r>
              <a:rPr sz="1850" i="0">
                <a:solidFill>
                  <a:srgbClr val="3B82F6"/>
                </a:solidFill>
                <a:latin typeface="Calibri"/>
              </a:rPr>
              <a:t>nothing synthetic to find</a:t>
            </a:r>
            <a:r>
              <a:rPr sz="1850" i="0">
                <a:solidFill>
                  <a:srgbClr val="1E293B"/>
                </a:solidFill>
                <a:latin typeface="Calibri"/>
              </a:rPr>
              <a:t>. The one clue a replay cannot hide: it was played through a </a:t>
            </a:r>
            <a:r>
              <a:rPr sz="1850" i="0">
                <a:solidFill>
                  <a:srgbClr val="3B82F6"/>
                </a:solidFill>
                <a:latin typeface="Calibri"/>
              </a:rPr>
              <a:t>loudspeaker and a room</a:t>
            </a:r>
            <a:r>
              <a:rPr sz="1850" i="0">
                <a:solidFill>
                  <a:srgbClr val="1E293B"/>
                </a:solidFill>
                <a:latin typeface="Calibri"/>
              </a:rPr>
              <a:t> — a </a:t>
            </a:r>
            <a:r>
              <a:rPr sz="1850" i="0">
                <a:solidFill>
                  <a:srgbClr val="3B82F6"/>
                </a:solidFill>
                <a:latin typeface="Calibri"/>
              </a:rPr>
              <a:t>second acoustic channel</a:t>
            </a:r>
            <a:r>
              <a:rPr sz="1850" i="0">
                <a:solidFill>
                  <a:srgbClr val="1E293B"/>
                </a:solidFill>
                <a:latin typeface="Calibri"/>
              </a:rPr>
              <a:t> that imprints its own signature on the sound.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3383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30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Loudspeaker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>
            <a:normAutofit fontScale="80573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Band-limits and colors the sound.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A mic never records a speaker cleanly.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→ timbre shifts, high frequencies cut.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98848" y="20574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057400"/>
            <a:ext cx="33832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130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Room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0016" y="26334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Adds reverberation.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Echoes of the replay room.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→ smeared, hollow reverb tail.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48472" y="20574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8472" y="2057400"/>
            <a:ext cx="338328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130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Recorder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49640" y="2633472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>
            <a:normAutofit fontScale="93913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The verifier mic captures all of it.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Double coloration on top of the voice.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1E40A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→ the channel fingerprint.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109728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566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923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3B82F6"/>
                </a:solidFill>
                <a:latin typeface="Calibri"/>
              </a:rPr>
              <a:t>Detection &amp; defence:  </a:t>
            </a:r>
            <a:r>
              <a:rPr sz="1800" i="0">
                <a:solidFill>
                  <a:srgbClr val="1E293B"/>
                </a:solidFill>
                <a:latin typeface="Calibri"/>
              </a:rPr>
              <a:t>classifiers (CQCC/MFCC + GMM, or neural nets) learn this channel signature — a live genuine utterance lacks it, so the replay is flagged. The strongest fix is </a:t>
            </a:r>
            <a:r>
              <a:rPr sz="1800" i="0">
                <a:solidFill>
                  <a:srgbClr val="3B82F6"/>
                </a:solidFill>
                <a:latin typeface="Calibri"/>
              </a:rPr>
              <a:t>liveness / challenge-response</a:t>
            </a:r>
            <a:r>
              <a:rPr sz="1800" i="0">
                <a:solidFill>
                  <a:srgbClr val="1E293B"/>
                </a:solidFill>
                <a:latin typeface="Calibri"/>
              </a:rPr>
              <a:t>, asking the speaker for something a recording cannot give.</a:t>
            </a:r>
            <a:endParaRPr sz="18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Todisco et al. (2017) CQCC-GMM for replay detection arXiv:1710.06635; liveness / challenge-response countermeasures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FORMULA · ④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Replay — Signal Model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728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100584" cy="74980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515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8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Belongs to:  </a:t>
            </a:r>
            <a:r>
              <a:rPr sz="2000" i="0">
                <a:solidFill>
                  <a:srgbClr val="1E40AF"/>
                </a:solidFill>
                <a:latin typeface="Calibri"/>
              </a:rPr>
              <a:t>Replay attack</a:t>
            </a:r>
            <a:r>
              <a:rPr sz="1700" i="0">
                <a:solidFill>
                  <a:srgbClr val="64748B"/>
                </a:solidFill>
                <a:latin typeface="Calibri"/>
              </a:rPr>
              <a:t>    —    </a:t>
            </a:r>
            <a:r>
              <a:rPr sz="1850" i="0">
                <a:solidFill>
                  <a:srgbClr val="1E293B"/>
                </a:solidFill>
                <a:latin typeface="Calibri"/>
              </a:rPr>
              <a:t>why a replay is detectable even though the voice is genuinely human.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pic>
        <p:nvPicPr>
          <p:cNvPr id="10" name="Picture 9" descr="repl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667" y="2395728"/>
            <a:ext cx="9373625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4023360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0584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1E40AF"/>
                </a:solidFill>
                <a:latin typeface="Calibri"/>
              </a:rPr>
              <a:t>Symbols</a:t>
            </a:r>
            <a:endParaRPr sz="20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4078224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y = mic signal; x = real recording; h = speaker + room; n = noise; ∗ = convolve.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084064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84064"/>
            <a:ext cx="100584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0F172A"/>
                </a:solidFill>
                <a:latin typeface="Calibri"/>
              </a:rPr>
              <a:t>How to read it</a:t>
            </a:r>
            <a:endParaRPr sz="20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6080" y="5138928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Replay passes x through a speaker+room (convolve with h) and adds noise n — that channel is the only fingerprint.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REPLAY  ·  CODE &amp; DEMO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Example: Mount a Replay Attack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What the code does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Record:  </a:t>
            </a:r>
            <a:r>
              <a:rPr sz="1350">
                <a:solidFill>
                  <a:srgbClr val="1E293B"/>
                </a:solidFill>
                <a:latin typeface="Calibri"/>
              </a:rPr>
              <a:t>take a genuine (bona-fide) utterance.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Channel:  </a:t>
            </a:r>
            <a:r>
              <a:rPr sz="1350">
                <a:solidFill>
                  <a:srgbClr val="1E293B"/>
                </a:solidFill>
                <a:latin typeface="Calibri"/>
              </a:rPr>
              <a:t>convolve with speaker + room impulse response h.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Noise:  </a:t>
            </a:r>
            <a:r>
              <a:rPr sz="1350">
                <a:solidFill>
                  <a:srgbClr val="1E293B"/>
                </a:solidFill>
                <a:latin typeface="Calibri"/>
              </a:rPr>
              <a:t>add ambient noise n → the re-recorded clip.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Detect side:  </a:t>
            </a:r>
            <a:r>
              <a:rPr sz="1350">
                <a:solidFill>
                  <a:srgbClr val="1E293B"/>
                </a:solidFill>
                <a:latin typeface="Calibri"/>
              </a:rPr>
              <a:t>countermeasures look for reverb / coloration, not synthesis.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349240" cy="3383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9672" y="1728216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728216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8" y="1728216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73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replay_attack.py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800600" cy="2880360"/>
          </a:xfrm>
          <a:prstGeom prst="rect">
            <a:avLst/>
          </a:prstGeom>
          <a:noFill/>
        </p:spPr>
        <p:txBody>
          <a:bodyPr wrap="none">
            <a:normAutofit fontScale="66593"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Menlo" panose="020B0609030804020204"/>
              </a:rPr>
              <a:t># Mount a replay attack: re-record a real voice through a speaker+room</a:t>
            </a:r>
            <a:endParaRPr sz="13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soundfile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sf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np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scipy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signal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fftconvolve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latin typeface="Menlo" panose="020B0609030804020204"/>
              </a:rPr>
              <a:t> </a:t>
            </a:r>
            <a:endParaRPr sz="130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bona_fide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sf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read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86EFAC"/>
                </a:solidFill>
                <a:latin typeface="Menlo" panose="020B0609030804020204"/>
              </a:rPr>
              <a:t>"victim_enrollment.wav"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latin typeface="Menlo" panose="020B0609030804020204"/>
              </a:rPr>
              <a:t> </a:t>
            </a:r>
            <a:endParaRPr sz="130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Menlo" panose="020B0609030804020204"/>
              </a:rPr>
              <a:t># replay channel = loudspeaker + room impulse response h, plus noise n</a:t>
            </a:r>
            <a:endParaRPr sz="13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64748B"/>
                </a:solidFill>
                <a:latin typeface="Menlo" panose="020B0609030804020204"/>
              </a:rPr>
              <a:t>#    y(t) = (h * x)(t) + n(t)</a:t>
            </a:r>
            <a:endParaRPr sz="13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h_room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load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86EFAC"/>
                </a:solidFill>
                <a:latin typeface="Menlo" panose="020B0609030804020204"/>
              </a:rPr>
              <a:t>"room_ir.npy"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fftconvolve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bona_fide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h_room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len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bona_fide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normal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shape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latin typeface="Menlo" panose="020B0609030804020204"/>
              </a:rPr>
              <a:t> </a:t>
            </a:r>
            <a:endParaRPr sz="130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Menlo" panose="020B0609030804020204"/>
              </a:rPr>
              <a:t>sf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write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86EFAC"/>
                </a:solidFill>
                <a:latin typeface="Menlo" panose="020B0609030804020204"/>
              </a:rPr>
              <a:t>"replay_attempt.wav"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replayed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astype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float32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3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300">
              <a:solidFill>
                <a:srgbClr val="E2E8F0"/>
              </a:solidFill>
              <a:latin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1297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0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0F172A"/>
                </a:solidFill>
                <a:latin typeface="Calibri"/>
              </a:rPr>
              <a:t>🎧  Listen: original vs. algorithm output</a:t>
            </a:r>
            <a:endParaRPr sz="18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82296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77256"/>
            <a:ext cx="44805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▶  Original recording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544068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5440680"/>
            <a:ext cx="82296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5477256"/>
            <a:ext cx="44805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▶  Replayed (speaker+room)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pic>
        <p:nvPicPr>
          <p:cNvPr id="22" name="rep_01_original.wa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21808" y="5623560"/>
            <a:ext cx="475488" cy="475488"/>
          </a:xfrm>
          <a:prstGeom prst="rect">
            <a:avLst/>
          </a:prstGeom>
        </p:spPr>
      </p:pic>
      <p:pic>
        <p:nvPicPr>
          <p:cNvPr id="23" name="rep_02_replayed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99648" y="5623560"/>
            <a:ext cx="475488" cy="475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Q2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Question 2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50" i="0">
                <a:solidFill>
                  <a:srgbClr val="1E293B"/>
                </a:solidFill>
                <a:latin typeface="Calibri"/>
              </a:rPr>
              <a:t>A bank checks who you are by your voice. Two fraud attempts:</a:t>
            </a:r>
            <a:endParaRPr sz="21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(A) The fraudster plays a REAL recording of the customer — through a laptop speaker — into the phone.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(B) The fraudster sends an AI-generated voice file of the CEO through the bank’s website.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▶  For each:  </a:t>
            </a:r>
            <a:r>
              <a:rPr sz="2000" i="0">
                <a:solidFill>
                  <a:srgbClr val="0F172A"/>
                </a:solidFill>
                <a:latin typeface="Calibri"/>
              </a:rPr>
              <a:t>is it a Replay attack or a Logical-Access attack? And what clue should the detector look for?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Q2  —  Answer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Answer 2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3B82F6"/>
                </a:solidFill>
                <a:latin typeface="Calibri"/>
              </a:rPr>
              <a:t>(A) Replay  </a:t>
            </a:r>
            <a:r>
              <a:rPr sz="2100" i="0">
                <a:solidFill>
                  <a:srgbClr val="1E293B"/>
                </a:solidFill>
                <a:latin typeface="Calibri"/>
              </a:rPr>
              <a:t>— a real recording is just played back. The voice is genuine, so look for the loudspeaker+room effects: </a:t>
            </a:r>
            <a:r>
              <a:rPr sz="2100" i="0">
                <a:solidFill>
                  <a:srgbClr val="3B82F6"/>
                </a:solidFill>
                <a:latin typeface="Calibri"/>
              </a:rPr>
              <a:t>reverb, muffling, noise.</a:t>
            </a:r>
            <a:endParaRPr sz="2100" i="0">
              <a:solidFill>
                <a:srgbClr val="3B82F6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3B82F6"/>
                </a:solidFill>
                <a:latin typeface="Calibri"/>
              </a:rPr>
              <a:t>(B) Logical Access  </a:t>
            </a:r>
            <a:r>
              <a:rPr sz="2100" i="0">
                <a:solidFill>
                  <a:srgbClr val="1E293B"/>
                </a:solidFill>
                <a:latin typeface="Calibri"/>
              </a:rPr>
              <a:t>— a fake file sent straight in. It never touched a mic, so look for </a:t>
            </a:r>
            <a:r>
              <a:rPr sz="2100" i="0">
                <a:solidFill>
                  <a:srgbClr val="3B82F6"/>
                </a:solidFill>
                <a:latin typeface="Calibri"/>
              </a:rPr>
              <a:t>synthesis traces: unnatural spectrum / phase.</a:t>
            </a:r>
            <a:endParaRPr sz="2100" i="0">
              <a:solidFill>
                <a:srgbClr val="3B82F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42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700" i="0">
                <a:solidFill>
                  <a:srgbClr val="FDE2E2"/>
                </a:solidFill>
                <a:latin typeface="Calibri"/>
              </a:rPr>
              <a:t>M1  ·  CHALLENGE  ·  QUANTITATIVE</a:t>
            </a:r>
            <a:endParaRPr sz="17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880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800" i="0">
                <a:solidFill>
                  <a:srgbClr val="FFFFFF"/>
                </a:solidFill>
                <a:latin typeface="Calibri"/>
              </a:rPr>
              <a:t>Replay Attack — High-Frequency Loss in Decibels</a:t>
            </a:r>
            <a:endParaRPr sz="28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26"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00" i="0">
                <a:solidFill>
                  <a:srgbClr val="FDE2E2"/>
                </a:solidFill>
                <a:latin typeface="Calibri"/>
              </a:rPr>
              <a:t>35  /  79</a:t>
            </a:r>
            <a:endParaRPr sz="16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152144"/>
            <a:ext cx="10908792" cy="8412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52144"/>
            <a:ext cx="109728" cy="84124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8464"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Problem.  </a:t>
            </a:r>
            <a:r>
              <a:rPr sz="1750" i="0">
                <a:solidFill>
                  <a:srgbClr val="1E293B"/>
                </a:solidFill>
                <a:latin typeface="Calibri"/>
              </a:rPr>
              <a:t>A replay loudspeaker band-limits the signal so the clip keeps only 18% of its original high-frequency energy. (a) Express this loss in decibels. (b) A detector flags any clip whose high-frequency loss exceeds 6 dB — is this replay flagged? (c) The room adds reverberation with T₆₀ = 0.4 s; for a 1.2 s clip, how many reverb 'tails' smear it?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39696"/>
            <a:ext cx="10908792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39696"/>
            <a:ext cx="1090879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458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Worked solution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743200"/>
            <a:ext cx="10424160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1.  </a:t>
            </a:r>
            <a:r>
              <a:rPr sz="1750" i="0">
                <a:solidFill>
                  <a:srgbClr val="1E293B"/>
                </a:solidFill>
                <a:latin typeface="Calibri"/>
              </a:rPr>
              <a:t>Loss = 10·log₁₀(0.18) = 10 × (−0.745) = −7.45 dB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2.  </a:t>
            </a:r>
            <a:r>
              <a:rPr sz="1750" i="0">
                <a:solidFill>
                  <a:srgbClr val="1E293B"/>
                </a:solidFill>
                <a:latin typeface="Calibri"/>
              </a:rPr>
              <a:t>Magnitude of loss = 7.45 dB, which is &gt; 6 dB → flagged.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3.  </a:t>
            </a:r>
            <a:r>
              <a:rPr sz="1750" i="0">
                <a:solidFill>
                  <a:srgbClr val="1E293B"/>
                </a:solidFill>
                <a:latin typeface="Calibri"/>
              </a:rPr>
              <a:t>Reverb tails = clip duration / T₆₀ = 1.2 / 0.4 = 3.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4.  </a:t>
            </a:r>
            <a:r>
              <a:rPr sz="1750" i="0">
                <a:solidFill>
                  <a:srgbClr val="1E293B"/>
                </a:solidFill>
                <a:latin typeface="Calibri"/>
              </a:rPr>
              <a:t>So the replay is both band-limited (−7.45 dB) and smeared by ~3 tails.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B4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109728" cy="65836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22976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Answer.  </a:t>
            </a:r>
            <a:r>
              <a:rPr sz="1750" i="0">
                <a:solidFill>
                  <a:srgbClr val="0F172A"/>
                </a:solidFill>
                <a:latin typeface="Calibri"/>
              </a:rPr>
              <a:t>−7.45 dB loss → flagged; ~3 reverb tails smear the 1.2 s clip.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709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1">
                <a:solidFill>
                  <a:srgbClr val="64748B"/>
                </a:solidFill>
                <a:latin typeface="Calibri"/>
              </a:rPr>
              <a:t>Worked challenge — multi-step quantitative.  </a:t>
            </a:r>
            <a:r>
              <a:rPr sz="1400" i="1">
                <a:solidFill>
                  <a:srgbClr val="64748B"/>
                </a:solidFill>
                <a:latin typeface="Calibri"/>
              </a:rPr>
              <a:t>Replay signal model y = h ∗ x + n — slide p25.</a:t>
            </a:r>
            <a:endParaRPr sz="14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04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1:35 – 2:05  ·  30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Passive Detection Methods &amp; Datasets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Traditional vs learning-based detection; ASVspoof LA / PA / DF, WaveFake, In-the-Wild, ADD.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4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37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DETECTION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What is Passive Detection?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38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7542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Passive = the detector only </a:t>
            </a:r>
            <a:r>
              <a:rPr sz="2000" i="0">
                <a:solidFill>
                  <a:srgbClr val="1E40AF"/>
                </a:solidFill>
                <a:latin typeface="Calibri"/>
              </a:rPr>
              <a:t>listens</a:t>
            </a:r>
            <a:r>
              <a:rPr sz="2000" i="0">
                <a:solidFill>
                  <a:srgbClr val="1E293B"/>
                </a:solidFill>
                <a:latin typeface="Calibri"/>
              </a:rPr>
              <a:t> to the audio and decides real or fake. It cannot challenge the speaker (unlike </a:t>
            </a:r>
            <a:r>
              <a:rPr sz="2000" i="0">
                <a:solidFill>
                  <a:srgbClr val="1E40AF"/>
                </a:solidFill>
                <a:latin typeface="Calibri"/>
              </a:rPr>
              <a:t>active</a:t>
            </a:r>
            <a:r>
              <a:rPr sz="2000" i="0">
                <a:solidFill>
                  <a:srgbClr val="1E293B"/>
                </a:solidFill>
                <a:latin typeface="Calibri"/>
              </a:rPr>
              <a:t> methods that ask for a random phrase).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Audio
clip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79776" y="29260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62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64748B"/>
                </a:solidFill>
                <a:latin typeface="Calibri"/>
              </a:rPr>
              <a:t>›</a:t>
            </a:r>
            <a:endParaRPr sz="23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34640" y="2560320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56032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63347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Features
(CQCC / MFCC
/ Wav2Vec2)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4336" y="29260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62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64748B"/>
                </a:solidFill>
                <a:latin typeface="Calibri"/>
              </a:rPr>
              <a:t>›</a:t>
            </a:r>
            <a:endParaRPr sz="23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0" y="2560320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56032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63347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Model
(GMM / CNN
/ AASIST)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68896" y="29260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62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64748B"/>
                </a:solidFill>
                <a:latin typeface="Calibri"/>
              </a:rPr>
              <a:t>›</a:t>
            </a:r>
            <a:endParaRPr sz="23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23760" y="2560320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56032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63347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Score s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63456" y="29260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362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i="0">
                <a:solidFill>
                  <a:srgbClr val="64748B"/>
                </a:solidFill>
                <a:latin typeface="Calibri"/>
              </a:rPr>
              <a:t>›</a:t>
            </a:r>
            <a:endParaRPr sz="230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418320" y="2560320"/>
            <a:ext cx="210312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256032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633472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s ≥ τ ?
→ Real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Why passive matters</a:t>
            </a:r>
            <a:endParaRPr sz="19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normAutofit fontScale="74627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No interruption:  </a:t>
            </a:r>
            <a:r>
              <a:rPr sz="1300">
                <a:solidFill>
                  <a:srgbClr val="1E293B"/>
                </a:solidFill>
                <a:latin typeface="Calibri"/>
              </a:rPr>
              <a:t>a bank's voice lock must verify a real call without asking 'please read this random sentence'.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Real-time:  </a:t>
            </a:r>
            <a:r>
              <a:rPr sz="1300">
                <a:solidFill>
                  <a:srgbClr val="1E293B"/>
                </a:solidFill>
                <a:latin typeface="Calibri"/>
              </a:rPr>
              <a:t>the decision happens in milliseconds, on a single clip of audio.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Adversarial:  </a:t>
            </a:r>
            <a:r>
              <a:rPr sz="1300">
                <a:solidFill>
                  <a:srgbClr val="1E293B"/>
                </a:solidFill>
                <a:latin typeface="Calibri"/>
              </a:rPr>
              <a:t>the attacker knows the detector exists and tries to evade it — so the detector must generalize beyond known attacks.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7466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197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Artifacts — Three Dimensions a Fake Cannot Hide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2224"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39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5710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deepfake is never a perfect copy — it leaves measurable traces (</a:t>
            </a:r>
            <a:r>
              <a:rPr sz="1750" i="0">
                <a:solidFill>
                  <a:srgbClr val="1E40AF"/>
                </a:solidFill>
                <a:latin typeface="Calibri"/>
              </a:rPr>
              <a:t>artifacts</a:t>
            </a:r>
            <a:r>
              <a:rPr sz="1750" i="0">
                <a:solidFill>
                  <a:srgbClr val="1E293B"/>
                </a:solidFill>
                <a:latin typeface="Calibri"/>
              </a:rPr>
              <a:t>) in three independent dimensions, taken apart in the pages that follow.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33832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3383280" cy="5669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FFFFFF"/>
                </a:solidFill>
                <a:latin typeface="Calibri"/>
              </a:rPr>
              <a:t>Spectral</a:t>
            </a:r>
            <a:endParaRPr sz="21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292608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6507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The frequency make-up of the voice. A vocoder fake can’t rebuild the fine high-frequency texture a real voice has — its highs look smoothed.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4316603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>
                <a:solidFill>
                  <a:srgbClr val="1E40AF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Cue:  missing high-freq detail.</a:t>
            </a:r>
            <a:endParaRPr sz="14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>
                <a:solidFill>
                  <a:srgbClr val="1E40AF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Detect:  CQCC / spectrogram CNN.</a:t>
            </a:r>
            <a:endParaRPr sz="14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98848" y="1810512"/>
            <a:ext cx="33832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8848" y="1810512"/>
            <a:ext cx="338328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1051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FFFFFF"/>
                </a:solidFill>
                <a:latin typeface="Calibri"/>
              </a:rPr>
              <a:t>Temporal</a:t>
            </a:r>
            <a:endParaRPr sz="21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2542032"/>
            <a:ext cx="292608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6507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How the sound changes over time. A deepfake over-smooths the sharp transitions and tiny pitch jitter of real speech.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4301998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>
                <a:solidFill>
                  <a:srgbClr val="2563EB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Cue:  smeared transitions.</a:t>
            </a:r>
            <a:endParaRPr sz="14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>
                <a:solidFill>
                  <a:srgbClr val="2563EB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Detect:  </a:t>
            </a:r>
            <a:r>
              <a:rPr sz="1400">
                <a:solidFill>
                  <a:srgbClr val="1E293B"/>
                </a:solidFill>
                <a:latin typeface="Calibri"/>
              </a:rPr>
              <a:t>F0 / modulation features.</a:t>
            </a:r>
            <a:endParaRPr sz="14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48472" y="1810512"/>
            <a:ext cx="33832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48472" y="1810512"/>
            <a:ext cx="338328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81051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FFFFFF"/>
                </a:solidFill>
                <a:latin typeface="Calibri"/>
              </a:rPr>
              <a:t>Phase</a:t>
            </a:r>
            <a:endParaRPr sz="21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04504" y="2542032"/>
            <a:ext cx="292608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6507"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The exact timing alignment within each cycle. Generators ignore phase, so reconstruction leaves a buzzy incoherence.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14664" y="4317238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3B82F6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Cue:  phasey / metallic buzz.</a:t>
            </a:r>
            <a:endParaRPr sz="14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3B82F6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Detect:  phase / raw-waveform net.</a:t>
            </a:r>
            <a:endParaRPr sz="14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5650992"/>
            <a:ext cx="10908792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650992"/>
            <a:ext cx="109728" cy="5486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509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05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40AF"/>
                </a:solidFill>
                <a:latin typeface="Calibri"/>
              </a:rPr>
              <a:t>Next:  </a:t>
            </a:r>
            <a:r>
              <a:rPr sz="1700" i="0">
                <a:solidFill>
                  <a:srgbClr val="1E293B"/>
                </a:solidFill>
                <a:latin typeface="Calibri"/>
              </a:rPr>
              <a:t>Spectral → Temporal → Phase — each gets a concept page and a listen page (p27–p32); summary on p33.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8689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Patel &amp; Patil (2017) deepfake artifacts; Bonetti &amp; Nanni phase cues; ASVspoof countermeasures exploit these three classes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1 / 3  ·  SPECTRAL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Spectral Artifacts — Where the Fine Detail Vanishes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40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700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spectrogram-based deepfake rebuilds sound from a coarse set of spectral bands. It cannot recreate the </a:t>
            </a:r>
            <a:r>
              <a:rPr sz="1750" i="0">
                <a:solidFill>
                  <a:srgbClr val="1E40AF"/>
                </a:solidFill>
                <a:latin typeface="Calibri"/>
              </a:rPr>
              <a:t>fine, high-frequency texture</a:t>
            </a:r>
            <a:r>
              <a:rPr sz="1750" i="0">
                <a:solidFill>
                  <a:srgbClr val="1E293B"/>
                </a:solidFill>
                <a:latin typeface="Calibri"/>
              </a:rPr>
              <a:t> a real vocal tract always produces — so the upper part of its spectrogram looks </a:t>
            </a:r>
            <a:r>
              <a:rPr sz="1750" i="0">
                <a:solidFill>
                  <a:srgbClr val="1E40AF"/>
                </a:solidFill>
                <a:latin typeface="Calibri"/>
              </a:rPr>
              <a:t>smoothed and empty</a:t>
            </a:r>
            <a:r>
              <a:rPr sz="1750" i="0">
                <a:solidFill>
                  <a:srgbClr val="1E293B"/>
                </a:solidFill>
                <a:latin typeface="Calibri"/>
              </a:rPr>
              <a:t>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489204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489204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936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IT HAPPENS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4434840" cy="2834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Low resolution at high freq — </a:t>
            </a:r>
            <a:r>
              <a:rPr sz="1300">
                <a:solidFill>
                  <a:srgbClr val="1E293B"/>
                </a:solidFill>
                <a:latin typeface="Calibri"/>
              </a:rPr>
              <a:t>mel-bands &amp; neural vocoders average the highs.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Vocoder resynthesis </a:t>
            </a:r>
            <a:r>
              <a:rPr sz="1300">
                <a:solidFill>
                  <a:srgbClr val="1E293B"/>
                </a:solidFill>
                <a:latin typeface="Calibri"/>
              </a:rPr>
              <a:t>blurs fine harmonic / formant structure.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Listen for: </a:t>
            </a:r>
            <a:r>
              <a:rPr sz="1300">
                <a:solidFill>
                  <a:srgbClr val="1E293B"/>
                </a:solidFill>
                <a:latin typeface="Calibri"/>
              </a:rPr>
              <a:t>missing 'air', softened s, sh, f sounds.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0" y="1947672"/>
            <a:ext cx="5989320" cy="318540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t2_spe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993392"/>
            <a:ext cx="5897880" cy="30939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178801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Magnitude spectrogram of REAL speech. The vocoder fake loses detail above ~3 kHz.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Spectral artifacts of neural vocoders; ASVspoof LA countermeasures (CQCC / spectrogram CNN)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·  LISTEN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Hear the Spectral Artifact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</a:t>
            </a:r>
            <a:r>
              <a:rPr sz="1750" i="0">
                <a:solidFill>
                  <a:srgbClr val="1E40AF"/>
                </a:solidFill>
                <a:latin typeface="Calibri"/>
              </a:rPr>
              <a:t>real human recording</a:t>
            </a:r>
            <a:r>
              <a:rPr sz="1750" i="0">
                <a:solidFill>
                  <a:srgbClr val="1E293B"/>
                </a:solidFill>
                <a:latin typeface="Calibri"/>
              </a:rPr>
              <a:t> vs. the same speech put through the deepfake step that breaks this dimension.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109728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rt_spec_real.wa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002535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9888" y="1874519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Genuine  ·  real recording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C2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109728" cy="676656"/>
          </a:xfrm>
          <a:prstGeom prst="rect">
            <a:avLst/>
          </a:prstGeom>
          <a:solidFill>
            <a:srgbClr val="DC2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rt_spec_fake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871216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888" y="2743200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Deepfake  ·  vocoder resynthesis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0" y="1874519"/>
            <a:ext cx="46634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1874519"/>
            <a:ext cx="4663440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1911095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13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WHAT TO LISTEN FOR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95744" y="2468880"/>
            <a:ext cx="4251960" cy="1554480"/>
          </a:xfrm>
          <a:prstGeom prst="rect">
            <a:avLst/>
          </a:prstGeom>
          <a:noFill/>
        </p:spPr>
        <p:txBody>
          <a:bodyPr wrap="square" lIns="0" tIns="0" rIns="0" bIns="0">
            <a:normAutofit fontScale="83062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Genuine: </a:t>
            </a:r>
            <a:r>
              <a:rPr sz="1250">
                <a:solidFill>
                  <a:srgbClr val="1E293B"/>
                </a:solidFill>
                <a:latin typeface="Calibri"/>
              </a:rPr>
              <a:t>bright, crisp, full of air.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Deepfake: </a:t>
            </a:r>
            <a:r>
              <a:rPr sz="1250">
                <a:solidFill>
                  <a:srgbClr val="1E293B"/>
                </a:solidFill>
                <a:latin typeface="Calibri"/>
              </a:rPr>
              <a:t>duller, muffled, the highs washed out.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Same words — the fake lost the sparkle.</a:t>
            </a:r>
            <a:endParaRPr sz="12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138928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109728" cy="8686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1E40AF"/>
                </a:solidFill>
                <a:latin typeface="Calibri"/>
              </a:rPr>
              <a:t>Takeaway:  </a:t>
            </a:r>
            <a:r>
              <a:rPr sz="1750" i="0">
                <a:solidFill>
                  <a:srgbClr val="1E293B"/>
                </a:solidFill>
                <a:latin typeface="Calibri"/>
              </a:rPr>
              <a:t>this washed-out high end is exactly</a:t>
            </a:r>
            <a:r>
              <a:rPr sz="1750" i="0">
                <a:solidFill>
                  <a:srgbClr val="1E293B"/>
                </a:solidFill>
                <a:latin typeface="Calibri"/>
              </a:rPr>
              <a:t> </a:t>
            </a:r>
            <a:r>
              <a:rPr sz="1750" i="0">
                <a:solidFill>
                  <a:srgbClr val="1E40AF"/>
                </a:solidFill>
                <a:latin typeface="Calibri"/>
              </a:rPr>
              <a:t>the spectral signature a detector flags.</a:t>
            </a:r>
            <a:endParaRPr sz="17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Audio: real human speech (16 kHz corpus) · converted with the actual deepfake DSP (STFT magnitude manipulation / Griffin-Lim) to isolate each artifact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2 / 3  ·  TEMPORAL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Temporal Artifacts — A Pulse That's Too Smooth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700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Real speech carries fast changes — the crisp onset of a 't', the snap of a 'k'. A deepfake trained for smoothness </a:t>
            </a:r>
            <a:r>
              <a:rPr sz="1750" i="0">
                <a:solidFill>
                  <a:srgbClr val="2563EB"/>
                </a:solidFill>
                <a:latin typeface="Calibri"/>
              </a:rPr>
              <a:t>over-smooths these in time</a:t>
            </a:r>
            <a:r>
              <a:rPr sz="1750" i="0">
                <a:solidFill>
                  <a:srgbClr val="1E293B"/>
                </a:solidFill>
                <a:latin typeface="Calibri"/>
              </a:rPr>
              <a:t>, so the transitions blur together and the micro-randomness of a real voice flattens out.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489204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48920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936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IT HAPPENS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4434840" cy="2834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Generators </a:t>
            </a:r>
            <a:r>
              <a:rPr sz="1300">
                <a:solidFill>
                  <a:srgbClr val="1E293B"/>
                </a:solidFill>
                <a:latin typeface="Calibri"/>
              </a:rPr>
              <a:t>blur fast temporal modulations.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Consonant onsets &amp; micro-jitter </a:t>
            </a:r>
            <a:r>
              <a:rPr sz="1300">
                <a:solidFill>
                  <a:srgbClr val="1E293B"/>
                </a:solidFill>
                <a:latin typeface="Calibri"/>
              </a:rPr>
              <a:t>get averaged away.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Listen for: </a:t>
            </a:r>
            <a:r>
              <a:rPr sz="1300">
                <a:solidFill>
                  <a:srgbClr val="1E293B"/>
                </a:solidFill>
                <a:latin typeface="Calibri"/>
              </a:rPr>
              <a:t>slurred, lispy, 'watery' transitions.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0" y="1947672"/>
            <a:ext cx="5989320" cy="318540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t2_te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993392"/>
            <a:ext cx="5897880" cy="30939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178801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Spectrogram of REAL speech. The over-smoothed fake smears onsets across time.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Temporal over-smoothing in neural TTS/VC; modulation-frequency features capture it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·  LISTEN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Hear the Temporal Artifact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</a:t>
            </a:r>
            <a:r>
              <a:rPr sz="1750" i="0">
                <a:solidFill>
                  <a:srgbClr val="2563EB"/>
                </a:solidFill>
                <a:latin typeface="Calibri"/>
              </a:rPr>
              <a:t>real human recording</a:t>
            </a:r>
            <a:r>
              <a:rPr sz="1750" i="0">
                <a:solidFill>
                  <a:srgbClr val="1E293B"/>
                </a:solidFill>
                <a:latin typeface="Calibri"/>
              </a:rPr>
              <a:t> vs. the same speech put through the deepfake step that breaks this dimension.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109728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rt_temp_real.wa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002535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9888" y="1874519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Genuine  ·  real recording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C2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109728" cy="676656"/>
          </a:xfrm>
          <a:prstGeom prst="rect">
            <a:avLst/>
          </a:prstGeom>
          <a:solidFill>
            <a:srgbClr val="DC2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rt_temp_fake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871216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888" y="2743200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Deepfake  ·  temporal over-smoothing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0" y="1874519"/>
            <a:ext cx="46634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1874519"/>
            <a:ext cx="46634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1911095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13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WHAT TO LISTEN FOR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95744" y="2468880"/>
            <a:ext cx="4251960" cy="1554480"/>
          </a:xfrm>
          <a:prstGeom prst="rect">
            <a:avLst/>
          </a:prstGeom>
          <a:noFill/>
        </p:spPr>
        <p:txBody>
          <a:bodyPr wrap="square" lIns="0" tIns="0" rIns="0" bIns="0">
            <a:normAutofit fontScale="71629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Genuine: </a:t>
            </a:r>
            <a:r>
              <a:rPr sz="1250">
                <a:solidFill>
                  <a:srgbClr val="1E293B"/>
                </a:solidFill>
                <a:latin typeface="Calibri"/>
              </a:rPr>
              <a:t>sharp consonants, lively detail.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Deepfake: </a:t>
            </a:r>
            <a:r>
              <a:rPr sz="1250">
                <a:solidFill>
                  <a:srgbClr val="1E293B"/>
                </a:solidFill>
                <a:latin typeface="Calibri"/>
              </a:rPr>
              <a:t>slurred, smeared, slightly watery.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The blurring of fast changes is the cue.</a:t>
            </a:r>
            <a:endParaRPr sz="12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138928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109728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2563EB"/>
                </a:solidFill>
                <a:latin typeface="Calibri"/>
              </a:rPr>
              <a:t>Takeaway:  </a:t>
            </a:r>
            <a:r>
              <a:rPr sz="1750" i="0">
                <a:solidFill>
                  <a:srgbClr val="1E293B"/>
                </a:solidFill>
                <a:latin typeface="Calibri"/>
              </a:rPr>
              <a:t>detectors measure this modulation sharpness;</a:t>
            </a:r>
            <a:r>
              <a:rPr sz="1750" i="0">
                <a:solidFill>
                  <a:srgbClr val="1E293B"/>
                </a:solidFill>
                <a:latin typeface="Calibri"/>
              </a:rPr>
              <a:t> </a:t>
            </a:r>
            <a:r>
              <a:rPr sz="1750" i="0">
                <a:solidFill>
                  <a:srgbClr val="2563EB"/>
                </a:solidFill>
                <a:latin typeface="Calibri"/>
              </a:rPr>
              <a:t>transitions that smear read as synthetic.</a:t>
            </a:r>
            <a:endParaRPr sz="175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Audio: real human speech (16 kHz corpus) · converted with the actual deepfake DSP (STFT magnitude manipulation / Griffin-Lim) to isolate each artifact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3 / 3  ·  PHASE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Phase Artifacts — When the Waveform Won't Line Up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793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Phase is the exact timing offset within each cycle. Humans are </a:t>
            </a:r>
            <a:r>
              <a:rPr sz="1750" i="0">
                <a:solidFill>
                  <a:srgbClr val="3B82F6"/>
                </a:solidFill>
                <a:latin typeface="Calibri"/>
              </a:rPr>
              <a:t>nearly deaf to absolute phase</a:t>
            </a:r>
            <a:r>
              <a:rPr sz="1750" i="0">
                <a:solidFill>
                  <a:srgbClr val="1E293B"/>
                </a:solidFill>
                <a:latin typeface="Calibri"/>
              </a:rPr>
              <a:t>, so generators neglect it. But reconstructing speech from a magnitude spectrogram (Griffin–Lim, overlap-add) leaves </a:t>
            </a:r>
            <a:r>
              <a:rPr sz="1750" i="0">
                <a:solidFill>
                  <a:srgbClr val="3B82F6"/>
                </a:solidFill>
                <a:latin typeface="Calibri"/>
              </a:rPr>
              <a:t>phase incoherence</a:t>
            </a:r>
            <a:r>
              <a:rPr sz="1750" i="0">
                <a:solidFill>
                  <a:srgbClr val="1E293B"/>
                </a:solidFill>
                <a:latin typeface="Calibri"/>
              </a:rPr>
              <a:t> — a buzzy, metallic edge a person barely hears.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489204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48920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936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IT HAPPENS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4434840" cy="2834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Griffin–Lim / vocoder hops </a:t>
            </a:r>
            <a:r>
              <a:rPr sz="1300">
                <a:solidFill>
                  <a:srgbClr val="1E293B"/>
                </a:solidFill>
                <a:latin typeface="Calibri"/>
              </a:rPr>
              <a:t>guess the phase, imperfectly.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Concatenation joins frames </a:t>
            </a:r>
            <a:r>
              <a:rPr sz="1300">
                <a:solidFill>
                  <a:srgbClr val="1E293B"/>
                </a:solidFill>
                <a:latin typeface="Calibri"/>
              </a:rPr>
              <a:t>that don't align in phase.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Listen for: </a:t>
            </a:r>
            <a:r>
              <a:rPr sz="1300">
                <a:solidFill>
                  <a:srgbClr val="1E293B"/>
                </a:solidFill>
                <a:latin typeface="Calibri"/>
              </a:rPr>
              <a:t>a buzzy, metallic, 'phasey' tinge.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0" y="1947672"/>
            <a:ext cx="5989320" cy="318540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t2_ph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993392"/>
            <a:ext cx="5897880" cy="30939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178801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466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Waveform zoom of REAL speech. The Griffin–Lim fake shows incoherent, phasey cycles.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672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Phase as a deepfake cue; STFT / Griffin–Lim phase reconstruction artifacts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·  LISTEN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Hear the Phase Artifact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1338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</a:t>
            </a:r>
            <a:r>
              <a:rPr sz="1750" i="0">
                <a:solidFill>
                  <a:srgbClr val="3B82F6"/>
                </a:solidFill>
                <a:latin typeface="Calibri"/>
              </a:rPr>
              <a:t>real human recording</a:t>
            </a:r>
            <a:r>
              <a:rPr sz="1750" i="0">
                <a:solidFill>
                  <a:srgbClr val="1E293B"/>
                </a:solidFill>
                <a:latin typeface="Calibri"/>
              </a:rPr>
              <a:t> vs. the same speech put through the deepfake step that breaks this dimension.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109728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rt_phase_real.wa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002535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9888" y="1874519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Genuine  ·  real recording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943600" cy="67665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C2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109728" cy="676656"/>
          </a:xfrm>
          <a:prstGeom prst="rect">
            <a:avLst/>
          </a:prstGeom>
          <a:solidFill>
            <a:srgbClr val="DC2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rt_phase_fake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41248" y="2871216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888" y="2743200"/>
            <a:ext cx="5074920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0F172A"/>
                </a:solidFill>
                <a:latin typeface="Calibri"/>
              </a:rPr>
              <a:t>Deepfake  ·  Griffin–Lim (2 iters)</a:t>
            </a:r>
            <a:endParaRPr sz="18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0" y="1874519"/>
            <a:ext cx="46634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1874519"/>
            <a:ext cx="4663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1911095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13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WHAT TO LISTEN FOR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95744" y="2468880"/>
            <a:ext cx="4251960" cy="1554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3B82F6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Genuine: </a:t>
            </a:r>
            <a:r>
              <a:rPr sz="1250">
                <a:solidFill>
                  <a:srgbClr val="1E293B"/>
                </a:solidFill>
                <a:latin typeface="Calibri"/>
              </a:rPr>
              <a:t>a clean, coherent waveform.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3B82F6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Deepfake: </a:t>
            </a:r>
            <a:r>
              <a:rPr sz="1250">
                <a:solidFill>
                  <a:srgbClr val="1E293B"/>
                </a:solidFill>
                <a:latin typeface="Calibri"/>
              </a:rPr>
              <a:t>buzzy / metallic / phasey.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>
                <a:solidFill>
                  <a:srgbClr val="3B82F6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Subtle to a person — loud to a model.</a:t>
            </a:r>
            <a:endParaRPr sz="12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138928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109728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3B82F6"/>
                </a:solidFill>
                <a:latin typeface="Calibri"/>
              </a:rPr>
              <a:t>Takeaway:  </a:t>
            </a:r>
            <a:r>
              <a:rPr sz="1750" i="0">
                <a:solidFill>
                  <a:srgbClr val="1E293B"/>
                </a:solidFill>
                <a:latin typeface="Calibri"/>
              </a:rPr>
              <a:t>people ignore phase, so it is</a:t>
            </a:r>
            <a:r>
              <a:rPr sz="1750" i="0">
                <a:solidFill>
                  <a:srgbClr val="1E293B"/>
                </a:solidFill>
                <a:latin typeface="Calibri"/>
              </a:rPr>
              <a:t> </a:t>
            </a:r>
            <a:r>
              <a:rPr sz="1750" i="0">
                <a:solidFill>
                  <a:srgbClr val="3B82F6"/>
                </a:solidFill>
                <a:latin typeface="Calibri"/>
              </a:rPr>
              <a:t>one of the strongest tells a detector exploits.</a:t>
            </a:r>
            <a:endParaRPr sz="175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764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Audio: real human speech (16 kHz corpus) · converted with the actual deepfake DSP (STFT magnitude manipulation / Griffin-Lim) to isolate each artifact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ARTIFACT  →  DETECTION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From Artifacts to Detectors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81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Each artifact dimension maps to a family of </a:t>
            </a:r>
            <a:r>
              <a:rPr sz="1750" i="0">
                <a:solidFill>
                  <a:srgbClr val="1E40AF"/>
                </a:solidFill>
                <a:latin typeface="Calibri"/>
              </a:rPr>
              <a:t>detector features</a:t>
            </a:r>
            <a:r>
              <a:rPr sz="1750" i="0">
                <a:solidFill>
                  <a:srgbClr val="1E293B"/>
                </a:solidFill>
                <a:latin typeface="Calibri"/>
              </a:rPr>
              <a:t>. The next two pages turn those features into a working real/fake classifier.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10908792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3852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Dimension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35808" y="193852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The artifact — the cue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50608" y="1938528"/>
            <a:ext cx="4325112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Detector we study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2441448"/>
            <a:ext cx="109087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41448"/>
            <a:ext cx="109728" cy="78638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41448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Spectral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35808" y="2441448"/>
            <a:ext cx="3749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Smoothed, missing high-frequency detail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50608" y="2441448"/>
            <a:ext cx="4233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CQCC + GMM  (p34)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908792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27832"/>
            <a:ext cx="109728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27832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Temporal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5808" y="3227832"/>
            <a:ext cx="3749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Over-smoothed transitions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50608" y="3227832"/>
            <a:ext cx="4233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Wav2Vec2  (</a:t>
            </a:r>
            <a:r>
              <a:rPr lang="en-US" sz="1700" i="0">
                <a:solidFill>
                  <a:srgbClr val="0F172A"/>
                </a:solidFill>
                <a:latin typeface="Calibri"/>
              </a:rPr>
              <a:t>Lecture2</a:t>
            </a:r>
            <a:r>
              <a:rPr sz="1700" i="0">
                <a:solidFill>
                  <a:srgbClr val="0F172A"/>
                </a:solidFill>
                <a:latin typeface="Calibri"/>
              </a:rPr>
              <a:t>)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4014216"/>
            <a:ext cx="109087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14216"/>
            <a:ext cx="109728" cy="7863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14216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3B82F6"/>
                </a:solidFill>
                <a:latin typeface="Calibri"/>
              </a:rPr>
              <a:t>Phase</a:t>
            </a:r>
            <a:endParaRPr sz="19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35808" y="4014216"/>
            <a:ext cx="3749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Incoherent / phasey waveform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50608" y="4014216"/>
            <a:ext cx="4233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AASIST  (</a:t>
            </a:r>
            <a:r>
              <a:rPr lang="en-US" sz="1700" i="0">
                <a:solidFill>
                  <a:srgbClr val="0F172A"/>
                </a:solidFill>
                <a:latin typeface="Calibri"/>
              </a:rPr>
              <a:t>Lecture2</a:t>
            </a:r>
            <a:r>
              <a:rPr sz="1700" i="0">
                <a:solidFill>
                  <a:srgbClr val="0F172A"/>
                </a:solidFill>
                <a:latin typeface="Calibri"/>
              </a:rPr>
              <a:t>)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74920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In depth:  </a:t>
            </a:r>
            <a:r>
              <a:rPr sz="1750" i="0">
                <a:solidFill>
                  <a:srgbClr val="1E293B"/>
                </a:solidFill>
                <a:latin typeface="Calibri"/>
              </a:rPr>
              <a:t>three detectors — CQCC + GMM (p34–35) → AASIST (</a:t>
            </a:r>
            <a:r>
              <a:rPr lang="en-US" sz="1750" i="0">
                <a:solidFill>
                  <a:srgbClr val="1E293B"/>
                </a:solidFill>
                <a:latin typeface="Calibri"/>
              </a:rPr>
              <a:t>Lecture2</a:t>
            </a:r>
            <a:r>
              <a:rPr sz="1750" i="0">
                <a:solidFill>
                  <a:srgbClr val="1E293B"/>
                </a:solidFill>
                <a:latin typeface="Calibri"/>
              </a:rPr>
              <a:t>) → Wav2Vec2 (</a:t>
            </a:r>
            <a:r>
              <a:rPr lang="en-US" sz="1750" i="0">
                <a:solidFill>
                  <a:srgbClr val="1E293B"/>
                </a:solidFill>
                <a:latin typeface="Calibri"/>
              </a:rPr>
              <a:t>Lecture2</a:t>
            </a:r>
            <a:r>
              <a:rPr sz="1750" i="0">
                <a:solidFill>
                  <a:srgbClr val="1E293B"/>
                </a:solidFill>
                <a:latin typeface="Calibri"/>
              </a:rPr>
              <a:t>).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4694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three detectors studied in depth: CQCC+GMM, AASIST, Wav2Vec2 (p34–39)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DETECTION  1 / 3  ·  CQCC + GMM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CQCC + GMM — The Classic Countermeasure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6271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The ASVspoof baseline: </a:t>
            </a:r>
            <a:r>
              <a:rPr sz="1750" i="0">
                <a:solidFill>
                  <a:srgbClr val="2563EB"/>
                </a:solidFill>
                <a:latin typeface="Calibri"/>
              </a:rPr>
              <a:t>hand-crafted CQCC features</a:t>
            </a:r>
            <a:r>
              <a:rPr sz="1750" i="0">
                <a:solidFill>
                  <a:srgbClr val="1E293B"/>
                </a:solidFill>
                <a:latin typeface="Calibri"/>
              </a:rPr>
              <a:t> + a Gaussian-Mixture classifier per class. Simple, fast, interpretable — the reference every neural model is compared against.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116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Audio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64748B"/>
                </a:solidFill>
                <a:latin typeface="Calibri"/>
              </a:rPr>
              <a:t>16 kHz wav</a:t>
            </a:r>
            <a:endParaRPr sz="14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0048" y="203911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0F172A"/>
                </a:solidFill>
                <a:latin typeface="Calibri"/>
              </a:rPr>
              <a:t>→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98648" y="173736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828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2887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Constant-Q transform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4368" y="22128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64748B"/>
                </a:solidFill>
                <a:latin typeface="Calibri"/>
              </a:rPr>
              <a:t>log-spaced freq</a:t>
            </a:r>
            <a:endParaRPr sz="14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28616" y="203911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0F172A"/>
                </a:solidFill>
                <a:latin typeface="Calibri"/>
              </a:rPr>
              <a:t>→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7216" y="173736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828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116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log + DCT = CQCC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02936" y="22128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FFFFFF"/>
                </a:solidFill>
                <a:latin typeface="Calibri"/>
              </a:rPr>
              <a:t>cepstral vector</a:t>
            </a:r>
            <a:endParaRPr sz="14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87184" y="203911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→</a:t>
            </a:r>
            <a:endParaRPr sz="20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15784" y="173736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1828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116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FFFFFF"/>
                </a:solidFill>
                <a:latin typeface="Calibri"/>
              </a:rPr>
              <a:t>GMM real + spoof</a:t>
            </a:r>
            <a:endParaRPr sz="17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61504" y="22128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FFFFFF"/>
                </a:solidFill>
                <a:latin typeface="Calibri"/>
              </a:rPr>
              <a:t>two mixtures</a:t>
            </a:r>
            <a:endParaRPr sz="14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45752" y="203911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2563EB"/>
                </a:solidFill>
                <a:latin typeface="Calibri"/>
              </a:rPr>
              <a:t>→</a:t>
            </a:r>
            <a:endParaRPr sz="20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74352" y="173736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8288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116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0F172A"/>
                </a:solidFill>
                <a:latin typeface="Calibri"/>
              </a:rPr>
              <a:t>LLR score</a:t>
            </a:r>
            <a:endParaRPr sz="17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20072" y="22128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64748B"/>
                </a:solidFill>
                <a:latin typeface="Calibri"/>
              </a:rPr>
              <a:t>real vs spoof</a:t>
            </a:r>
            <a:endParaRPr sz="14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2907792"/>
            <a:ext cx="534924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2907792"/>
            <a:ext cx="53492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2944368"/>
            <a:ext cx="49103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What is CQCC?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9536" y="347472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>
            <a:normAutofit fontScale="75688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Constant-Q transform — </a:t>
            </a:r>
            <a:r>
              <a:rPr sz="1200">
                <a:solidFill>
                  <a:srgbClr val="1E293B"/>
                </a:solidFill>
                <a:latin typeface="Calibri"/>
              </a:rPr>
              <a:t>log-spaced frequency bins (octaves), so low frequencies get fine resolution where speech detail lives.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Then log-power and a DCT → cepstral coefficients.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Why it works — </a:t>
            </a:r>
            <a:r>
              <a:rPr sz="1200">
                <a:solidFill>
                  <a:srgbClr val="1E293B"/>
                </a:solidFill>
                <a:latin typeface="Calibri"/>
              </a:rPr>
              <a:t>this fine spectral resolution exposes the smoothing a vocoder leaves; MFCC is too coarse.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99632" y="2907792"/>
            <a:ext cx="534924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2907792"/>
            <a:ext cx="53492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944368"/>
            <a:ext cx="49103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a Gaussian Mixture?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19088" y="347472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>
            <a:normAutofit fontScale="81297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GMM — </a:t>
            </a:r>
            <a:r>
              <a:rPr sz="1200">
                <a:solidFill>
                  <a:srgbClr val="1E293B"/>
                </a:solidFill>
                <a:latin typeface="Calibri"/>
              </a:rPr>
              <a:t>a weighted sum of Gaussians modelling each class's feature distribution.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Score — </a:t>
            </a:r>
            <a:r>
              <a:rPr sz="1200">
                <a:solidFill>
                  <a:srgbClr val="1E293B"/>
                </a:solidFill>
                <a:latin typeface="Calibri"/>
              </a:rPr>
              <a:t>log-likelihood ratio  LLR = log P(real) − log P(spoof).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Decide — </a:t>
            </a:r>
            <a:r>
              <a:rPr sz="1200">
                <a:solidFill>
                  <a:srgbClr val="1E293B"/>
                </a:solidFill>
                <a:latin typeface="Calibri"/>
              </a:rPr>
              <a:t>LLR &gt; threshold τ ⇒ real, else spoof.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Result — </a:t>
            </a:r>
            <a:r>
              <a:rPr sz="1200">
                <a:solidFill>
                  <a:srgbClr val="1E293B"/>
                </a:solidFill>
                <a:latin typeface="Calibri"/>
              </a:rPr>
              <a:t>~9–11% EER on ASVspoof 2019 unseen attacks.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Todisco et al. (2017) CQCC; Reynolds GMM; ASVspoof 2015–19 baseline countermeasure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DETECTION  1 / 3  ·  CODE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CQCC + GMM — in Code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48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395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Extract CQCC, fit two GMMs, score by log-likelihood ratio.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0972800" cy="3703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55648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755648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755648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70078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1372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cqcc_gmm.py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039112"/>
            <a:ext cx="10424160" cy="3200400"/>
          </a:xfrm>
          <a:prstGeom prst="rect">
            <a:avLst/>
          </a:prstGeom>
          <a:noFill/>
        </p:spPr>
        <p:txBody>
          <a:bodyPr wrap="none">
            <a:normAutofit fontScale="77835"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64748B"/>
                </a:solidFill>
                <a:latin typeface="Menlo" panose="020B0609030804020204"/>
              </a:rPr>
              <a:t># CQCC + GMM spoof detector  (scikit-learn)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sklearn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mixture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GaussianMixture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cqcc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cqcc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                 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constant-Q cepstral coefficients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np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latin typeface="Menlo" panose="020B0609030804020204"/>
              </a:rPr>
              <a:t> </a:t>
            </a:r>
            <a:endParaRPr sz="1200"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                      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1. CQCC features per clip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c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cqcc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num_ceps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c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axis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         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   average over time -&gt; 1 vector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latin typeface="Menlo" panose="020B0609030804020204"/>
              </a:rPr>
              <a:t> </a:t>
            </a:r>
            <a:endParaRPr sz="1200"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X_real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real_clips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X_spoof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spoof_clips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latin typeface="Menlo" panose="020B0609030804020204"/>
              </a:rPr>
              <a:t> </a:t>
            </a:r>
            <a:endParaRPr sz="1200"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gmm_real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GaussianMixture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X_real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2. one model per class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gmm_spoof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GaussianMixture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X_spoof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latin typeface="Menlo" panose="020B0609030804020204"/>
              </a:rPr>
              <a:t> </a:t>
            </a:r>
            <a:endParaRPr sz="1200"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                          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3. log-likelihood ratio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fs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None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gmm_real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gmm_spoof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latin typeface="Menlo" panose="020B0609030804020204"/>
              </a:rPr>
              <a:t> </a:t>
            </a:r>
            <a:endParaRPr sz="1200">
              <a:latin typeface="Menlo" panose="020B0609030804020204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Menlo" panose="020B0609030804020204"/>
              </a:rPr>
              <a:t>decision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86EFAC"/>
                </a:solidFill>
                <a:latin typeface="Menlo" panose="020B0609030804020204"/>
              </a:rPr>
              <a:t>"real"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if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new_clip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&gt;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tau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93C5FD"/>
                </a:solidFill>
                <a:latin typeface="Menlo" panose="020B0609030804020204"/>
              </a:rPr>
              <a:t>else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00">
                <a:solidFill>
                  <a:srgbClr val="86EFAC"/>
                </a:solidFill>
                <a:latin typeface="Menlo" panose="020B0609030804020204"/>
              </a:rPr>
              <a:t>"spoof"</a:t>
            </a:r>
            <a:r>
              <a:rPr sz="1200">
                <a:solidFill>
                  <a:srgbClr val="E2E8F0"/>
                </a:solidFill>
                <a:latin typeface="Menlo" panose="020B0609030804020204"/>
              </a:rPr>
              <a:t>   </a:t>
            </a:r>
            <a:r>
              <a:rPr sz="1200">
                <a:solidFill>
                  <a:srgbClr val="64748B"/>
                </a:solidFill>
                <a:latin typeface="Menlo" panose="020B0609030804020204"/>
              </a:rPr>
              <a:t># 4. threshold</a:t>
            </a:r>
            <a:endParaRPr sz="1200">
              <a:solidFill>
                <a:srgbClr val="64748B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cqcc package; sklearn GaussianMixture; LLR scoring — ASVspoof baseline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DATASETS  ·  BENCHMARK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ASVspoof — The Benchmark Series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49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81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Where the detectors above are judged. Each edition added harder attacks, and the eval set always holds </a:t>
            </a:r>
            <a:r>
              <a:rPr sz="1750" i="0">
                <a:solidFill>
                  <a:srgbClr val="3B82F6"/>
                </a:solidFill>
                <a:latin typeface="Calibri"/>
              </a:rPr>
              <a:t>unseen spoofs</a:t>
            </a:r>
            <a:r>
              <a:rPr sz="1750" i="0">
                <a:solidFill>
                  <a:srgbClr val="1E293B"/>
                </a:solidFill>
                <a:latin typeface="Calibri"/>
              </a:rPr>
              <a:t> — testing the generalization the artifact lesson (p33) said matters.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219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2015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64748B"/>
                </a:solidFill>
                <a:latin typeface="Calibri"/>
              </a:rPr>
              <a:t>synthetic + VC</a:t>
            </a:r>
            <a:endParaRPr sz="14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0048" y="213055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0F172A"/>
                </a:solidFill>
                <a:latin typeface="Calibri"/>
              </a:rPr>
              <a:t>→</a:t>
            </a:r>
            <a:endParaRPr sz="20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98648" y="182880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9202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219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2017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4368" y="230428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FFFFFF"/>
                </a:solidFill>
                <a:latin typeface="Calibri"/>
              </a:rPr>
              <a:t>+ replay (PA)</a:t>
            </a:r>
            <a:endParaRPr sz="14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28616" y="213055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7216" y="182880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9202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219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2019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02936" y="230428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FFFFFF"/>
                </a:solidFill>
                <a:latin typeface="Calibri"/>
              </a:rPr>
              <a:t>LA + PA — most cited</a:t>
            </a:r>
            <a:endParaRPr sz="14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87184" y="213055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19202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219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FFFFFF"/>
                </a:solidFill>
                <a:latin typeface="Calibri"/>
              </a:rPr>
              <a:t>2021</a:t>
            </a:r>
            <a:endParaRPr sz="17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61504" y="230428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FFFFFF"/>
                </a:solidFill>
                <a:latin typeface="Calibri"/>
              </a:rPr>
              <a:t>+ deepfake, codecs</a:t>
            </a:r>
            <a:endParaRPr sz="145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45752" y="2130552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808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3B82F6"/>
                </a:solidFill>
                <a:latin typeface="Calibri"/>
              </a:rPr>
              <a:t>→</a:t>
            </a:r>
            <a:endParaRPr sz="20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74352" y="1828800"/>
            <a:ext cx="2057400" cy="93268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92024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219"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0F172A"/>
                </a:solidFill>
                <a:latin typeface="Calibri"/>
              </a:rPr>
              <a:t>2024+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20072" y="230428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1">
                <a:solidFill>
                  <a:srgbClr val="64748B"/>
                </a:solidFill>
                <a:latin typeface="Calibri"/>
              </a:rPr>
              <a:t>adversarial DF</a:t>
            </a:r>
            <a:endParaRPr sz="145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3063240"/>
            <a:ext cx="1090879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063240"/>
            <a:ext cx="10908792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099816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this benchmark design matters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9536" y="3630168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normAutofit fontScale="61197"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LA · PA · DF — </a:t>
            </a:r>
            <a:r>
              <a:rPr sz="1200">
                <a:solidFill>
                  <a:srgbClr val="1E293B"/>
                </a:solidFill>
                <a:latin typeface="Calibri"/>
              </a:rPr>
              <a:t>Logical Access (TTS/VC), Physical Access (replay), DeepFake: three sub-tasks mapping to the three attack types.</a:t>
            </a:r>
            <a:endParaRPr sz="12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Unseen-eval — </a:t>
            </a:r>
            <a:r>
              <a:rPr sz="1200">
                <a:solidFill>
                  <a:srgbClr val="1E293B"/>
                </a:solidFill>
                <a:latin typeface="Calibri"/>
              </a:rPr>
              <a:t>the EVAL set uses spoof systems absent from training, so a detector that merely memorized training attacks fails here.</a:t>
            </a:r>
            <a:endParaRPr sz="12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645152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45152"/>
            <a:ext cx="109728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663440"/>
            <a:ext cx="10515600" cy="8321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3B82F6"/>
                </a:solidFill>
                <a:latin typeface="Calibri"/>
              </a:rPr>
              <a:t>Link:  </a:t>
            </a:r>
            <a:r>
              <a:rPr sz="1750" i="0">
                <a:solidFill>
                  <a:srgbClr val="1E293B"/>
                </a:solidFill>
                <a:latin typeface="Calibri"/>
              </a:rPr>
              <a:t>a detector that watches all three artifact dimensions (p33) is exactly what survives an unseen-eval benchmark.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ASVspoof 2015–2024 challenge series; Wu et al. 2019, Yamagishi et al. 2021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05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2:05 – 2:35  ·  30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Evaluation &amp; Accuracy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5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50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FORMULA · ⑤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EER — Equal Error Rate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728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100584" cy="7498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515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8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Belongs to:  </a:t>
            </a:r>
            <a:r>
              <a:rPr sz="2000" i="0">
                <a:solidFill>
                  <a:srgbClr val="3B82F6"/>
                </a:solidFill>
                <a:latin typeface="Calibri"/>
              </a:rPr>
              <a:t>Detection — evaluation</a:t>
            </a:r>
            <a:r>
              <a:rPr sz="1700" i="0">
                <a:solidFill>
                  <a:srgbClr val="64748B"/>
                </a:solidFill>
                <a:latin typeface="Calibri"/>
              </a:rPr>
              <a:t>    —    </a:t>
            </a:r>
            <a:r>
              <a:rPr sz="1850" i="0">
                <a:solidFill>
                  <a:srgbClr val="1E293B"/>
                </a:solidFill>
                <a:latin typeface="Calibri"/>
              </a:rPr>
              <a:t>the metric that scores how good a spoofing countermeasure is.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pic>
        <p:nvPicPr>
          <p:cNvPr id="10" name="Picture 9" descr="e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95728"/>
            <a:ext cx="10058398" cy="12428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4023360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0584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3B82F6"/>
                </a:solidFill>
                <a:latin typeface="Calibri"/>
              </a:rPr>
              <a:t>Symbols</a:t>
            </a:r>
            <a:endParaRPr sz="205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4078224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τ = threshold; P_FA = false-accept rate; P_FR = false-reject rate.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084064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84064"/>
            <a:ext cx="100584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219456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50" i="0">
                <a:solidFill>
                  <a:srgbClr val="0F172A"/>
                </a:solidFill>
                <a:latin typeface="Calibri"/>
              </a:rPr>
              <a:t>How to read it</a:t>
            </a:r>
            <a:endParaRPr sz="20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6080" y="5138928"/>
            <a:ext cx="85039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Tune τ until false-accepts equal false-rejects — that shared rate is the EER; lower = better.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EVALUATION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Computing EER in Code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How to get EER from raw scores: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Step 1:  </a:t>
            </a:r>
            <a:r>
              <a:rPr sz="1350">
                <a:solidFill>
                  <a:srgbClr val="1E293B"/>
                </a:solidFill>
                <a:latin typeface="Calibri"/>
              </a:rPr>
              <a:t>feed all test-clip scores + true labels to roc_curve.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Step 2:  </a:t>
            </a:r>
            <a:r>
              <a:rPr sz="1350">
                <a:solidFill>
                  <a:srgbClr val="1E293B"/>
                </a:solidFill>
                <a:latin typeface="Calibri"/>
              </a:rPr>
              <a:t>find the point where FAR (fpr) = FRR (1 − tpr).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Step 3:  </a:t>
            </a:r>
            <a:r>
              <a:rPr sz="1350">
                <a:solidFill>
                  <a:srgbClr val="1E293B"/>
                </a:solidFill>
                <a:latin typeface="Calibri"/>
              </a:rPr>
              <a:t>that rate is the EER; the corresponding threshold is τ*.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50">
                <a:solidFill>
                  <a:srgbClr val="1E40AF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Tip:  </a:t>
            </a:r>
            <a:r>
              <a:rPr sz="1350">
                <a:solidFill>
                  <a:srgbClr val="1E293B"/>
                </a:solidFill>
                <a:latin typeface="Calibri"/>
              </a:rPr>
              <a:t>AUC = area under the full ROC curve — report both.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34924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9672" y="1728216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728216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8" y="1728216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73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compute_eer.py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800600" cy="4069080"/>
          </a:xfrm>
          <a:prstGeom prst="rect">
            <a:avLst/>
          </a:prstGeom>
          <a:noFill/>
        </p:spPr>
        <p:txBody>
          <a:bodyPr wrap="none">
            <a:normAutofit fontScale="86571"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Compute EER and AUC from detection scores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sklearn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metrics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roc_curve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auc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labels: 1 = bonafide, 0 = spoof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scores: higher = more likely bonafide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thresholds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roc_curve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labels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scores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EER: the point where fpr == 1 - tpr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eer_idx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argmin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abs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eer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eer_idx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eer_thresh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thresholds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eer_idx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AUC: area under the ROC curve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auc_score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auc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print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50">
                <a:solidFill>
                  <a:srgbClr val="86EFAC"/>
                </a:solidFill>
                <a:latin typeface="Menlo" panose="020B0609030804020204"/>
              </a:rPr>
              <a:t>"EER = {eer:.1%}  at threshold {eer_thresh:.3f}"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print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50">
                <a:solidFill>
                  <a:srgbClr val="86EFAC"/>
                </a:solidFill>
                <a:latin typeface="Menlo" panose="020B0609030804020204"/>
              </a:rPr>
              <a:t>"AUC = {auc_score:.3f}"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Q3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Question 3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A fake-voice detector scores every clip 0–1. A cut-off τ decides: score ≥ τ ⇒ accepted as REAL.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Two mistakes can happen:  </a:t>
            </a:r>
            <a:r>
              <a:rPr sz="1950" i="0">
                <a:solidFill>
                  <a:srgbClr val="2563EB"/>
                </a:solidFill>
                <a:latin typeface="Calibri"/>
              </a:rPr>
              <a:t>False-Accept</a:t>
            </a:r>
            <a:r>
              <a:rPr sz="1950" i="0">
                <a:solidFill>
                  <a:srgbClr val="1E293B"/>
                </a:solidFill>
                <a:latin typeface="Calibri"/>
              </a:rPr>
              <a:t> (a fake slips through) and </a:t>
            </a:r>
            <a:r>
              <a:rPr sz="1950" i="0">
                <a:solidFill>
                  <a:srgbClr val="2563EB"/>
                </a:solidFill>
                <a:latin typeface="Calibri"/>
              </a:rPr>
              <a:t>False-Reject</a:t>
            </a:r>
            <a:r>
              <a:rPr sz="1950" i="0">
                <a:solidFill>
                  <a:srgbClr val="1E293B"/>
                </a:solidFill>
                <a:latin typeface="Calibri"/>
              </a:rPr>
              <a:t> (a real clip rejected).</a:t>
            </a:r>
            <a:endParaRPr sz="19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τ = 0.40  →  20% of fakes accepted,  5% of reals rejected.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50" i="0">
                <a:solidFill>
                  <a:srgbClr val="1E293B"/>
                </a:solidFill>
                <a:latin typeface="Calibri"/>
              </a:rPr>
              <a:t>τ = 0.60  →  5% of fakes accepted,  20% of reals rejected.</a:t>
            </a:r>
            <a:endParaRPr sz="20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▶  The EER is the point where the two error rates are equal.  </a:t>
            </a:r>
            <a:r>
              <a:rPr sz="1900" i="0">
                <a:solidFill>
                  <a:srgbClr val="0F172A"/>
                </a:solidFill>
                <a:latin typeface="Calibri"/>
              </a:rPr>
              <a:t>Find the EER.</a:t>
            </a:r>
            <a:endParaRPr sz="1900" i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PRACTICE  ·  Q3  —  Answer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Answer 3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46177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4617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424160" cy="429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293B"/>
                </a:solidFill>
                <a:latin typeface="Calibri"/>
              </a:rPr>
              <a:t>As τ rises from 0.40 to 0.60: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293B"/>
                </a:solidFill>
                <a:latin typeface="Calibri"/>
              </a:rPr>
              <a:t>fake-accepts fall 20% → 5%,  and  real-rejects rise 5% → 20%  (both move 15 points over Δτ = 0.20).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i="0">
                <a:solidFill>
                  <a:srgbClr val="1E293B"/>
                </a:solidFill>
                <a:latin typeface="Calibri"/>
              </a:rPr>
              <a:t>They move at the same speed, so they cross in the middle:</a:t>
            </a:r>
            <a:endParaRPr sz="21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150" i="0">
                <a:solidFill>
                  <a:srgbClr val="2563EB"/>
                </a:solidFill>
                <a:latin typeface="Calibri"/>
              </a:rPr>
              <a:t>τ ≈ 0.50,  where both error rates equal ≈ 12.5%.</a:t>
            </a:r>
            <a:endParaRPr sz="2150" i="0">
              <a:solidFill>
                <a:srgbClr val="2563EB"/>
              </a:solidFill>
              <a:latin typeface="Calibr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900" i="0">
                <a:solidFill>
                  <a:srgbClr val="2563EB"/>
                </a:solidFill>
                <a:latin typeface="Calibri"/>
              </a:rPr>
              <a:t>EER = 12.5%</a:t>
            </a:r>
            <a:endParaRPr sz="2900" i="0">
              <a:solidFill>
                <a:srgbClr val="2563E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542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700" i="0">
                <a:solidFill>
                  <a:srgbClr val="FDE2E2"/>
                </a:solidFill>
                <a:latin typeface="Calibri"/>
              </a:rPr>
              <a:t>M1  ·  CHALLENGE  ·  QUANTITATIVE</a:t>
            </a:r>
            <a:endParaRPr sz="17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880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800" i="0">
                <a:solidFill>
                  <a:srgbClr val="FFFFFF"/>
                </a:solidFill>
                <a:latin typeface="Calibri"/>
              </a:rPr>
              <a:t>EER from a Score Table</a:t>
            </a:r>
            <a:endParaRPr sz="28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26"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00" i="0">
                <a:solidFill>
                  <a:srgbClr val="FDE2E2"/>
                </a:solidFill>
                <a:latin typeface="Calibri"/>
              </a:rPr>
              <a:t>55  /  79</a:t>
            </a:r>
            <a:endParaRPr sz="1600" i="0">
              <a:solidFill>
                <a:srgbClr val="FDE2E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152144"/>
            <a:ext cx="10908792" cy="8412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52144"/>
            <a:ext cx="109728" cy="84124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602"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Problem.  </a:t>
            </a:r>
            <a:r>
              <a:rPr sz="1750" i="0">
                <a:solidFill>
                  <a:srgbClr val="1E293B"/>
                </a:solidFill>
                <a:latin typeface="Calibri"/>
              </a:rPr>
              <a:t>Eight test clips (4 real R, 4 spoof S), sorted high → low (score ≥ τ ⇒ accepted as REAL):  0.93 R, 0.85 R, 0.72 R, 0.68 S, 0.64 R, 0.58 S, 0.41 S, 0.22 S. Sweep the threshold τ and find the EER (the point where false-alarm rate FAR = false-reject rate FRR).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39696"/>
            <a:ext cx="10908792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39696"/>
            <a:ext cx="1090879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4583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Worked solution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743200"/>
            <a:ext cx="10424160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1.  </a:t>
            </a:r>
            <a:r>
              <a:rPr sz="1750" i="0">
                <a:solidFill>
                  <a:srgbClr val="1E293B"/>
                </a:solidFill>
                <a:latin typeface="Calibri"/>
              </a:rPr>
              <a:t>FAR = P(score ≥ τ | spoof);  FRR = P(score &lt; τ | real).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2.  </a:t>
            </a:r>
            <a:r>
              <a:rPr sz="1750" i="0">
                <a:solidFill>
                  <a:srgbClr val="1E293B"/>
                </a:solidFill>
                <a:latin typeface="Calibri"/>
              </a:rPr>
              <a:t>Try τ ≈ 0.66 (between 0.68 S and 0.64 R): spoofs ≥ τ = {0.68} → FAR = 1/4 = 0.25.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3.  </a:t>
            </a:r>
            <a:r>
              <a:rPr sz="1750" i="0">
                <a:solidFill>
                  <a:srgbClr val="1E293B"/>
                </a:solidFill>
                <a:latin typeface="Calibri"/>
              </a:rPr>
              <a:t>Reals &lt; τ = {0.64} → FRR = 1/4 = 0.25.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50" i="0">
                <a:solidFill>
                  <a:srgbClr val="1E40AF"/>
                </a:solidFill>
                <a:latin typeface="Calibri"/>
              </a:rPr>
              <a:t>Step 4.  </a:t>
            </a:r>
            <a:r>
              <a:rPr sz="1750" i="0">
                <a:solidFill>
                  <a:srgbClr val="1E293B"/>
                </a:solidFill>
                <a:latin typeface="Calibri"/>
              </a:rPr>
              <a:t>At τ ≈ 0.66 the two error rates are equal → that rate is the EER.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B4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109728" cy="658368"/>
          </a:xfrm>
          <a:prstGeom prst="rect">
            <a:avLst/>
          </a:prstGeom>
          <a:solidFill>
            <a:srgbClr val="B4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22976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50" i="0">
                <a:solidFill>
                  <a:srgbClr val="B43C3C"/>
                </a:solidFill>
                <a:latin typeface="Calibri"/>
              </a:rPr>
              <a:t>Answer.  </a:t>
            </a:r>
            <a:r>
              <a:rPr sz="1750" i="0">
                <a:solidFill>
                  <a:srgbClr val="0F172A"/>
                </a:solidFill>
                <a:latin typeface="Calibri"/>
              </a:rPr>
              <a:t>EER = 25% at τ ≈ 0.66 (one real and one spoof cross over at the boundary).</a:t>
            </a:r>
            <a:endParaRPr sz="17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4709"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1">
                <a:solidFill>
                  <a:srgbClr val="64748B"/>
                </a:solidFill>
                <a:latin typeface="Calibri"/>
              </a:rPr>
              <a:t>Worked challenge — multi-step quantitative.  </a:t>
            </a:r>
            <a:r>
              <a:rPr sz="1400" i="1">
                <a:solidFill>
                  <a:srgbClr val="64748B"/>
                </a:solidFill>
                <a:latin typeface="Calibri"/>
              </a:rPr>
              <a:t>EER = the shared rate where FAR = FRR — slide p42.</a:t>
            </a:r>
            <a:endParaRPr sz="14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GENERALIZATION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Why Cross-Dataset Detection Fails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976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A model trained on ASVspoof 2019 can score </a:t>
            </a:r>
            <a:r>
              <a:rPr sz="1950" i="0">
                <a:solidFill>
                  <a:srgbClr val="2563EB"/>
                </a:solidFill>
                <a:latin typeface="Calibri"/>
              </a:rPr>
              <a:t>0.83% EER</a:t>
            </a:r>
            <a:r>
              <a:rPr sz="1950" i="0">
                <a:solidFill>
                  <a:srgbClr val="1E293B"/>
                </a:solidFill>
                <a:latin typeface="Calibri"/>
              </a:rPr>
              <a:t> — but test it on 2021 and EER jumps to </a:t>
            </a:r>
            <a:r>
              <a:rPr sz="1950" i="0">
                <a:solidFill>
                  <a:srgbClr val="1E40AF"/>
                </a:solidFill>
                <a:latin typeface="Calibri"/>
              </a:rPr>
              <a:t>~17%</a:t>
            </a:r>
            <a:r>
              <a:rPr sz="1950" i="0">
                <a:solidFill>
                  <a:srgbClr val="1E293B"/>
                </a:solidFill>
                <a:latin typeface="Calibri"/>
              </a:rPr>
              <a:t>. Why?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91440" cy="40233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Unseen TTS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Each TTS system leaves a different spectral fingerprint. A model trained on WaveNet + Tacotron spoofs may miss spoofs from VITS or a brand-new system it has never seen.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48840"/>
            <a:ext cx="91440" cy="40233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3B82F6"/>
                </a:solidFill>
                <a:latin typeface="Calibri"/>
              </a:rPr>
              <a:t>Compression</a:t>
            </a:r>
            <a:endParaRPr sz="19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8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Real-world audio goes through mp3, opus, or AMR codecs. These add quantization noise that MASKS the subtle artifacts the detector learned to spot.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21488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48840"/>
            <a:ext cx="91440" cy="40233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Domain shift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269748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Different recording devices, languages, accents, noise conditions. The statistical distribution of the test data differs from training — the model's assumptions break.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06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2:35 – 2:50  ·  15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Guided Lab 1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Extract features, train a baseline detector, visualize real vs fake.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6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57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LAB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Lab — Build a Deepfake Detector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58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97280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3375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A self-contained Colab notebook — it </a:t>
            </a:r>
            <a:r>
              <a:rPr sz="1750" i="0">
                <a:solidFill>
                  <a:srgbClr val="2563EB"/>
                </a:solidFill>
                <a:latin typeface="Calibri"/>
              </a:rPr>
              <a:t>synthesizes its own bonafide vs spoof clips</a:t>
            </a:r>
            <a:r>
              <a:rPr sz="1750" i="0">
                <a:solidFill>
                  <a:srgbClr val="1E293B"/>
                </a:solidFill>
                <a:latin typeface="Calibri"/>
              </a:rPr>
              <a:t>, so it runs with no downloads. Your job: extract features, train a classifier, score, and report the </a:t>
            </a:r>
            <a:r>
              <a:rPr sz="1750" i="0">
                <a:solidFill>
                  <a:srgbClr val="2563EB"/>
                </a:solidFill>
                <a:latin typeface="Calibri"/>
              </a:rPr>
              <a:t>EER</a:t>
            </a:r>
            <a:r>
              <a:rPr sz="1750" i="0">
                <a:solidFill>
                  <a:srgbClr val="1E293B"/>
                </a:solidFill>
                <a:latin typeface="Calibri"/>
              </a:rPr>
              <a:t>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690372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6903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64648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Your four tasks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2542032"/>
            <a:ext cx="6492240" cy="2834640"/>
          </a:xfrm>
          <a:prstGeom prst="rect">
            <a:avLst/>
          </a:prstGeom>
          <a:noFill/>
        </p:spPr>
        <p:txBody>
          <a:bodyPr wrap="square" lIns="0" tIns="0" rIns="0" bIns="0">
            <a:normAutofit fontScale="90256"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Task 1 — Features:  </a:t>
            </a:r>
            <a:r>
              <a:rPr sz="1300">
                <a:solidFill>
                  <a:srgbClr val="1E293B"/>
                </a:solidFill>
                <a:latin typeface="Calibri"/>
              </a:rPr>
              <a:t>take 13 MFCC coefficients per clip (torchaudio), averaged over time.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Task 2 — Train:  </a:t>
            </a:r>
            <a:r>
              <a:rPr sz="1300">
                <a:solidFill>
                  <a:srgbClr val="1E293B"/>
                </a:solidFill>
                <a:latin typeface="Calibri"/>
              </a:rPr>
              <a:t>fit one Gaussian (mean + covariance) per class on 200 train clips.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Task 3 — Score:  </a:t>
            </a:r>
            <a:r>
              <a:rPr sz="1300">
                <a:solidFill>
                  <a:srgbClr val="1E293B"/>
                </a:solidFill>
                <a:latin typeface="Calibri"/>
              </a:rPr>
              <a:t>score 200 test clips by log-likelihood ratio  LLR = log P(spoof) − log P(real).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Task 4 — Evaluate:  </a:t>
            </a:r>
            <a:r>
              <a:rPr sz="1300">
                <a:solidFill>
                  <a:srgbClr val="1E293B"/>
                </a:solidFill>
                <a:latin typeface="Calibri"/>
              </a:rPr>
              <a:t>sweep a threshold; find the EER where false-alarm rate = false-reject rate.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0" y="1938528"/>
            <a:ext cx="3776472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938528"/>
            <a:ext cx="3776472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1975104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Setup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91856" y="2487168"/>
            <a:ext cx="3383280" cy="1051560"/>
          </a:xfrm>
          <a:prstGeom prst="rect">
            <a:avLst/>
          </a:prstGeom>
          <a:noFill/>
        </p:spPr>
        <p:txBody>
          <a:bodyPr wrap="square" lIns="0" tIns="0" rIns="0" bIns="0">
            <a:normAutofit fontScale="7747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Open Colab → </a:t>
            </a:r>
            <a:r>
              <a:rPr sz="1150">
                <a:solidFill>
                  <a:srgbClr val="1E293B"/>
                </a:solidFill>
                <a:latin typeface="Calibri"/>
              </a:rPr>
              <a:t>paste the code (p41).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Needs only numpy, scipy, torchaudio — all preinstalled.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0" y="3794760"/>
            <a:ext cx="3776472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794760"/>
            <a:ext cx="377647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3831336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Deliverable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91856" y="4343400"/>
            <a:ext cx="3383280" cy="1097280"/>
          </a:xfrm>
          <a:prstGeom prst="rect">
            <a:avLst/>
          </a:prstGeom>
          <a:noFill/>
        </p:spPr>
        <p:txBody>
          <a:bodyPr wrap="square" lIns="0" tIns="0" rIns="0" bIns="0">
            <a:normAutofit fontScale="63689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One number: </a:t>
            </a:r>
            <a:r>
              <a:rPr sz="1150">
                <a:solidFill>
                  <a:srgbClr val="1E293B"/>
                </a:solidFill>
                <a:latin typeface="Calibri"/>
              </a:rPr>
              <a:t>the EER.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A DET curve (false-alarm vs false-reject).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Compare with the reference answer on p42.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Self-contained synthetic dataset (no download); mirrors the spectral-artifact idea from p27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LAB  ·  CODE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Lab — Reference Code (Colab-ready)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59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7097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Copy into one Colab cell → Run.   Output:  </a:t>
            </a:r>
            <a:r>
              <a:rPr sz="1750" i="0">
                <a:solidFill>
                  <a:srgbClr val="2563EB"/>
                </a:solidFill>
                <a:latin typeface="Calibri"/>
              </a:rPr>
              <a:t>EER = 12.0%</a:t>
            </a:r>
            <a:endParaRPr sz="175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517904"/>
            <a:ext cx="10972800" cy="4617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645920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645920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645920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59105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1372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lab_deepfake_detector.py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1929384"/>
            <a:ext cx="10424160" cy="4114800"/>
          </a:xfrm>
          <a:prstGeom prst="rect">
            <a:avLst/>
          </a:prstGeom>
          <a:noFill/>
        </p:spPr>
        <p:txBody>
          <a:bodyPr wrap="none">
            <a:normAutofit fontScale="70340"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64748B"/>
                </a:solidFill>
                <a:latin typeface="Menlo" panose="020B0609030804020204"/>
              </a:rPr>
              <a:t># Lab: Audio Deepfake Detector — MFCC -&gt; Gaussian -&gt; EER  (Colab, no downloads)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torch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torchaudio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scipy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signal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butter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filtfilt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MFCC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torchaudio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transforms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MFCC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n_mfcc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melkwargs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dict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n_fft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hop_length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n_mels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seed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latin typeface="Menlo" panose="020B0609030804020204"/>
              </a:rPr>
              <a:t> </a:t>
            </a:r>
            <a:endParaRPr sz="1100"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synth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spoof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                   </a:t>
            </a:r>
            <a:r>
              <a:rPr sz="1100">
                <a:solidFill>
                  <a:srgbClr val="64748B"/>
                </a:solidFill>
                <a:latin typeface="Menlo" panose="020B0609030804020204"/>
              </a:rPr>
              <a:t># 1. bonafide vs spoof vowel clip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arange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/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ph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pi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cumsum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uniform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9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pi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/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SR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sum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7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exp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7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/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ph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range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8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spoof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uniform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7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&lt;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else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uniform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elif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&lt;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8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random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uniform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8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    </a:t>
            </a:r>
            <a:r>
              <a:rPr sz="1100">
                <a:solidFill>
                  <a:srgbClr val="64748B"/>
                </a:solidFill>
                <a:latin typeface="Menlo" panose="020B0609030804020204"/>
              </a:rPr>
              <a:t># a few reals are slightly muffled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else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None</a:t>
            </a:r>
            <a:endParaRPr sz="1100">
              <a:solidFill>
                <a:srgbClr val="93C5FD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is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not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None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filtfilt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butter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cut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/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/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astype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86EFAC"/>
                </a:solidFill>
                <a:latin typeface="Menlo" panose="020B0609030804020204"/>
              </a:rPr>
              <a:t>'f'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latin typeface="Menlo" panose="020B0609030804020204"/>
              </a:rPr>
              <a:t> </a:t>
            </a:r>
            <a:endParaRPr sz="1100"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MFCC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torch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from_numpy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  </a:t>
            </a:r>
            <a:r>
              <a:rPr sz="1100">
                <a:solidFill>
                  <a:srgbClr val="64748B"/>
                </a:solidFill>
                <a:latin typeface="Menlo" panose="020B0609030804020204"/>
              </a:rPr>
              <a:t># 2. MFCC feature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mk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array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i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%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i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range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array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feat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synth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Xtr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mk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mk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latin typeface="Menlo" panose="020B0609030804020204"/>
              </a:rPr>
              <a:t> </a:t>
            </a:r>
            <a:endParaRPr sz="1100"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cov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rowvar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False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eye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_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linalg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slogdet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5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log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*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pi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+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einsum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86EFAC"/>
                </a:solidFill>
                <a:latin typeface="Menlo" panose="020B0609030804020204"/>
              </a:rPr>
              <a:t>'ij,jk,ik-&gt;i'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linalg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inv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d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mr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lp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Xte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cr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           </a:t>
            </a:r>
            <a:r>
              <a:rPr sz="1100">
                <a:solidFill>
                  <a:srgbClr val="64748B"/>
                </a:solidFill>
                <a:latin typeface="Menlo" panose="020B0609030804020204"/>
              </a:rPr>
              <a:t># 3. LLR (high =&gt; spoof)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sr_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ss_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yte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best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eer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0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unique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score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                     </a:t>
            </a:r>
            <a:r>
              <a:rPr sz="1100">
                <a:solidFill>
                  <a:srgbClr val="64748B"/>
                </a:solidFill>
                <a:latin typeface="Menlo" panose="020B0609030804020204"/>
              </a:rPr>
              <a:t># 4. sweep threshold -&gt; EER</a:t>
            </a:r>
            <a:endParaRPr sz="110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far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frr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sr_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&gt;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ss_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&lt;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100">
                <a:solidFill>
                  <a:srgbClr val="93C5FD"/>
                </a:solidFill>
                <a:latin typeface="Menlo" panose="020B0609030804020204"/>
              </a:rPr>
              <a:t>if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abs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far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frr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&lt;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best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best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abs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far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frr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;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eer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far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 panose="020B0609030804020204"/>
              </a:rPr>
              <a:t>print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100">
                <a:solidFill>
                  <a:srgbClr val="86EFAC"/>
                </a:solidFill>
                <a:latin typeface="Menlo" panose="020B0609030804020204"/>
              </a:rPr>
              <a:t>"EER = {eer*100:.1f}%"</a:t>
            </a:r>
            <a:r>
              <a:rPr sz="110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100">
              <a:solidFill>
                <a:srgbClr val="E2E8F0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Verified runnable: numpy + torchaudio + scipy; prints EER = 12.0% on a CPU laptop / Colab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8337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LAB  ·  ANSWER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49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Lab — Reference Answer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3267"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60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133856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33856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338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0">
                <a:solidFill>
                  <a:srgbClr val="2563EB"/>
                </a:solidFill>
                <a:latin typeface="Calibri"/>
              </a:rPr>
              <a:t>Reference result:   </a:t>
            </a:r>
            <a:r>
              <a:rPr sz="2100" i="0">
                <a:solidFill>
                  <a:srgbClr val="2563EB"/>
                </a:solidFill>
                <a:latin typeface="Calibri"/>
              </a:rPr>
              <a:t>EER ≈ 12%</a:t>
            </a:r>
            <a:r>
              <a:rPr sz="1750" i="0">
                <a:solidFill>
                  <a:srgbClr val="1E293B"/>
                </a:solidFill>
                <a:latin typeface="Calibri"/>
              </a:rPr>
              <a:t>   — a realistic, non-trivial number (not 0%).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1828799"/>
            <a:ext cx="5852160" cy="35402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b_d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19"/>
            <a:ext cx="5760720" cy="34488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0" y="1874519"/>
            <a:ext cx="4873752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874519"/>
            <a:ext cx="4873752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1911095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Why ≈ 12% and not 0%?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4576" y="2423160"/>
            <a:ext cx="4480560" cy="1143000"/>
          </a:xfrm>
          <a:prstGeom prst="rect">
            <a:avLst/>
          </a:prstGeom>
          <a:noFill/>
        </p:spPr>
        <p:txBody>
          <a:bodyPr wrap="square" lIns="0" tIns="0" rIns="0" bIns="0">
            <a:normAutofit fontScale="82345"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Mild spoofs (cutoff 6–7.4 kHz) look nearly real → false rejects.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A few muffled reals → false alarms.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3B82F6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The overlap IS the EER.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3776472"/>
            <a:ext cx="4873752" cy="17556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776472"/>
            <a:ext cx="4873752" cy="4572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381304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74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How to push EER lower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94576" y="4325112"/>
            <a:ext cx="4480560" cy="1143000"/>
          </a:xfrm>
          <a:prstGeom prst="rect">
            <a:avLst/>
          </a:prstGeom>
          <a:noFill/>
        </p:spPr>
        <p:txBody>
          <a:bodyPr wrap="square" lIns="0" tIns="0" rIns="0" bIns="0">
            <a:normAutofit fontScale="82345"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Richer features: </a:t>
            </a:r>
            <a:r>
              <a:rPr sz="1150">
                <a:solidFill>
                  <a:srgbClr val="1E293B"/>
                </a:solidFill>
                <a:latin typeface="Calibri"/>
              </a:rPr>
              <a:t>CQCC / raw spectrogram.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Stronger model: </a:t>
            </a:r>
            <a:r>
              <a:rPr sz="1150">
                <a:solidFill>
                  <a:srgbClr val="1E293B"/>
                </a:solidFill>
                <a:latin typeface="Calibri"/>
              </a:rPr>
              <a:t>GMM-64 or a small neural net.</a:t>
            </a:r>
            <a:endParaRPr sz="11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>
                <a:solidFill>
                  <a:srgbClr val="1E40AF"/>
                </a:solidFill>
                <a:latin typeface="Calibri"/>
              </a:rPr>
              <a:t>▸  </a:t>
            </a:r>
            <a:r>
              <a:rPr sz="1150">
                <a:solidFill>
                  <a:srgbClr val="1E293B"/>
                </a:solidFill>
                <a:latin typeface="Calibri"/>
              </a:rPr>
              <a:t>Real data: </a:t>
            </a:r>
            <a:r>
              <a:rPr sz="1150">
                <a:solidFill>
                  <a:srgbClr val="1E293B"/>
                </a:solidFill>
                <a:latin typeface="Calibri"/>
              </a:rPr>
              <a:t>swap in ASVspoof clips.</a:t>
            </a:r>
            <a:endParaRPr sz="11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1521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9668"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1">
                <a:solidFill>
                  <a:srgbClr val="64748B"/>
                </a:solidFill>
                <a:latin typeface="Calibri"/>
              </a:rPr>
              <a:t>Source: </a:t>
            </a:r>
            <a:r>
              <a:rPr sz="1500" i="1">
                <a:solidFill>
                  <a:srgbClr val="64748B"/>
                </a:solidFill>
                <a:latin typeface="Calibri"/>
              </a:rPr>
              <a:t>DET curve from the exact code on p41; EER = false-alarm where FAR = FRR</a:t>
            </a:r>
            <a:endParaRPr sz="15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ASVSPOOF 2019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ASVspoof 2019 — LA &amp; PA Tasks, Deep Dive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61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67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LA — Logical Access (synthetic speech)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Train / Dev:  </a:t>
            </a:r>
            <a:r>
              <a:rPr sz="1250">
                <a:solidFill>
                  <a:srgbClr val="1E293B"/>
                </a:solidFill>
                <a:latin typeface="Calibri"/>
              </a:rPr>
              <a:t>6 known spoof systems (WaveNet, Tacotron, FastSpeech, neural VC…). The model learns these.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Eval:  </a:t>
            </a:r>
            <a:r>
              <a:rPr sz="1250">
                <a:solidFill>
                  <a:srgbClr val="1E293B"/>
                </a:solidFill>
                <a:latin typeface="Calibri"/>
              </a:rPr>
              <a:t>13+ UNSEEN systems — completely new TTS/VC the model has never seen.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Design:  </a:t>
            </a:r>
            <a:r>
              <a:rPr sz="1250">
                <a:solidFill>
                  <a:srgbClr val="1E293B"/>
                </a:solidFill>
                <a:latin typeface="Calibri"/>
              </a:rPr>
              <a:t>eval tests generalization, NOT memorization.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Scale:  </a:t>
            </a:r>
            <a:r>
              <a:rPr sz="1250">
                <a:solidFill>
                  <a:srgbClr val="1E293B"/>
                </a:solidFill>
                <a:latin typeface="Calibri"/>
              </a:rPr>
              <a:t>~25k clips (train), ~25k (dev), ~71k (eval).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1E40AF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This is the most cited anti-spoofing benchmark.</a:t>
            </a:r>
            <a:endParaRPr sz="12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679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PA — Physical Access (replay)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Setup:  </a:t>
            </a:r>
            <a:r>
              <a:rPr sz="1250">
                <a:solidFill>
                  <a:srgbClr val="1E293B"/>
                </a:solidFill>
                <a:latin typeface="Calibri"/>
              </a:rPr>
              <a:t>genuine speech is played through a loudspeaker into a mic, in a real room.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Variety:  </a:t>
            </a:r>
            <a:r>
              <a:rPr sz="1250">
                <a:solidFill>
                  <a:srgbClr val="1E293B"/>
                </a:solidFill>
                <a:latin typeface="Calibri"/>
              </a:rPr>
              <a:t>26+ loudspeaker + room + microphone combinations.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Train / Dev:  </a:t>
            </a:r>
            <a:r>
              <a:rPr sz="1250">
                <a:solidFill>
                  <a:srgbClr val="1E293B"/>
                </a:solidFill>
                <a:latin typeface="Calibri"/>
              </a:rPr>
              <a:t>known replay configurations.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Eval:  </a:t>
            </a:r>
            <a:r>
              <a:rPr sz="1250">
                <a:solidFill>
                  <a:srgbClr val="1E293B"/>
                </a:solidFill>
                <a:latin typeface="Calibri"/>
              </a:rPr>
              <a:t>unseen replay setups (different speakers, rooms, distances).</a:t>
            </a:r>
            <a:endParaRPr sz="12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>
                <a:solidFill>
                  <a:srgbClr val="2563EB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Tests:  </a:t>
            </a:r>
            <a:r>
              <a:rPr sz="1250">
                <a:solidFill>
                  <a:srgbClr val="1E293B"/>
                </a:solidFill>
                <a:latin typeface="Calibri"/>
              </a:rPr>
              <a:t>can the detector catch re-recorded audio, not just synthesis?</a:t>
            </a:r>
            <a:endParaRPr sz="125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ASVSPOOF 2021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ASVspoof 2021 — Harder: Compression &amp; Deepfakes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62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Three tasks, each tougher than 2019: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91440" cy="10058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LA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217627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Re-test of 2019 LA — same spoof systems, BUT audio now passes through codecs (mp3, opus) and transmission effects.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2563EB"/>
                </a:solidFill>
                <a:latin typeface="Calibri"/>
              </a:rPr>
              <a:t>PA</a:t>
            </a:r>
            <a:endParaRPr sz="21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0" y="327355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Replay attacks — harder rooms, more speaker/mic combinations, background noise.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29768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97680"/>
            <a:ext cx="91440" cy="10058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3B82F6"/>
                </a:solidFill>
                <a:latin typeface="Calibri"/>
              </a:rPr>
              <a:t>DF (new)</a:t>
            </a:r>
            <a:endParaRPr sz="21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1840" y="437083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Deepfake speech — entirely new synthetic systems not in 2019. A fresh generalization test.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128016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3B82F6"/>
                </a:solidFill>
                <a:latin typeface="Calibri"/>
              </a:rPr>
              <a:t>THE KEY FINDING</a:t>
            </a:r>
            <a:endParaRPr sz="16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625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50" i="0">
                <a:solidFill>
                  <a:srgbClr val="FFFFFF"/>
                </a:solidFill>
                <a:latin typeface="Calibri"/>
              </a:rPr>
              <a:t>Train on 2019 LA (EER ~1%), test on 2021 LA → EER jumps to ~17%. Compression + unseen attacks = much harder.</a:t>
            </a:r>
            <a:endParaRPr sz="1850" i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RESULTS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Results — Who Wins on ASVspoof 2019 LA?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1">
                <a:solidFill>
                  <a:srgbClr val="64748B"/>
                </a:solidFill>
                <a:latin typeface="Calibri"/>
              </a:rPr>
              <a:t>How detection quality improved over the years (EER on ASVspoof 2019 LA):</a:t>
            </a:r>
            <a:endParaRPr sz="19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914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GMM + CQCC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0" y="19659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~9–11%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0" y="196596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25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Hand-crafted features + statistical model. The official baseline.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91440" cy="7772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LCNN + CQCC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278892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~5%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0" y="278892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Light CNN learns from CQCC spectrograms.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914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RawNet2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361188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~2–3%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0" y="361188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End-to-end on raw waveform — no feature engineering.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438912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91440" cy="7772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AASIST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06240" y="443484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~0.83%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0" y="443484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25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Spectro-temporal graph attention. State of the art (2022).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521208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21208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3B82F6"/>
                </a:solidFill>
                <a:latin typeface="Calibri"/>
              </a:rPr>
              <a:t>Wav2Vec2 + classifier</a:t>
            </a:r>
            <a:endParaRPr sz="19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06240" y="525780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i="0">
                <a:solidFill>
                  <a:srgbClr val="1E40AF"/>
                </a:solidFill>
                <a:latin typeface="Calibri"/>
              </a:rPr>
              <a:t>~0.5–1%</a:t>
            </a:r>
            <a:endParaRPr sz="21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0" y="525780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253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i="0">
                <a:solidFill>
                  <a:srgbClr val="1E293B"/>
                </a:solidFill>
                <a:latin typeface="Calibri"/>
              </a:rPr>
              <a:t>Self-supervised pre-training on millions of hours of speech.</a:t>
            </a:r>
            <a:endParaRPr sz="17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6080760"/>
            <a:ext cx="10972800" cy="3657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4698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40AF"/>
                </a:solidFill>
                <a:latin typeface="Calibri"/>
              </a:rPr>
              <a:t>Lesson:  </a:t>
            </a:r>
            <a:r>
              <a:rPr sz="1700" i="0">
                <a:solidFill>
                  <a:srgbClr val="1E293B"/>
                </a:solidFill>
                <a:latin typeface="Calibri"/>
              </a:rPr>
              <a:t>learned features (neural / self-supervised) beat hand-crafted ones — and the gap grows on UNSEEN attacks.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FEATURES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Feature Landscape — What the Classifier Sees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1">
                <a:solidFill>
                  <a:srgbClr val="64748B"/>
                </a:solidFill>
                <a:latin typeface="Calibri"/>
              </a:rPr>
              <a:t>Four ways to turn audio into model input — each trades interpretability for performance.</a:t>
            </a:r>
            <a:endParaRPr sz="19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74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CQCC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33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2563EB"/>
                </a:solidFill>
                <a:latin typeface="Calibri"/>
              </a:rPr>
              <a:t>Hand-crafted
cepstral coefficients</a:t>
            </a:r>
            <a:endParaRPr sz="165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42316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Traditional GMM baseline. Interpretable but fixed.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269748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0116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74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Spectrogram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33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1E40AF"/>
                </a:solidFill>
                <a:latin typeface="Calibri"/>
              </a:rPr>
              <a:t>Visual time-
frequency image</a:t>
            </a:r>
            <a:endParaRPr sz="16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42316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Fed to a CNN — the model learns spatial patterns. Most common neural input.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116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74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Raw waveform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33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2563EB"/>
                </a:solidFill>
                <a:latin typeface="Calibri"/>
              </a:rPr>
              <a:t>Direct samples
(no extraction)</a:t>
            </a:r>
            <a:endParaRPr sz="165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242316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SincNet / RawNet learn their own filters. No human feature design.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06840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965960"/>
            <a:ext cx="269748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0116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745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SSL embeddings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0" y="260604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3B82F6"/>
                </a:solidFill>
                <a:latin typeface="Calibri"/>
              </a:rPr>
              <a:t>Pre-trained
(Wav2Vec2)</a:t>
            </a:r>
            <a:endParaRPr sz="165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0" y="3337560"/>
            <a:ext cx="242316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293B"/>
                </a:solidFill>
                <a:latin typeface="Calibri"/>
              </a:rPr>
              <a:t>Rich representations from millions of hours of speech. Fine-tune for detection.</a:t>
            </a:r>
            <a:endParaRPr sz="17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6172200"/>
            <a:ext cx="10972800" cy="320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19963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072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1E40AF"/>
                </a:solidFill>
                <a:latin typeface="Calibri"/>
              </a:rPr>
              <a:t>Trend:  </a:t>
            </a:r>
            <a:r>
              <a:rPr sz="1650" i="0">
                <a:solidFill>
                  <a:srgbClr val="1E293B"/>
                </a:solidFill>
                <a:latin typeface="Calibri"/>
              </a:rPr>
              <a:t>left → right = more automatic, more data-hungry, better on unseen attacks.</a:t>
            </a:r>
            <a:endParaRPr sz="165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LA TASK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Logical Access — Synthetic Speech, Injected Digitally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What it is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Delivery:  </a:t>
            </a:r>
            <a:r>
              <a:rPr sz="1300">
                <a:solidFill>
                  <a:srgbClr val="1E293B"/>
                </a:solidFill>
                <a:latin typeface="Calibri"/>
              </a:rPr>
              <a:t>a TTS/VC-generated .wav file fed straight to the verifier API — no microphone, no room.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Attack systems (ASVspoof 2019 LA):  </a:t>
            </a:r>
            <a:r>
              <a:rPr sz="1300">
                <a:solidFill>
                  <a:srgbClr val="1E293B"/>
                </a:solidFill>
                <a:latin typeface="Calibri"/>
              </a:rPr>
              <a:t>WaveNet, Tacotron, FastSpeech, neural VC, etc. — 6 known + 13 unseen in eval.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The signal is 100% synthetic</a:t>
            </a:r>
            <a:r>
              <a:rPr sz="1300">
                <a:solidFill>
                  <a:srgbClr val="1E293B"/>
                </a:solidFill>
                <a:latin typeface="Calibri"/>
              </a:rPr>
              <a:t>— there is no genuine human component.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No channel artifacts</a:t>
            </a:r>
            <a:r>
              <a:rPr sz="1300">
                <a:solidFill>
                  <a:srgbClr val="1E293B"/>
                </a:solidFill>
                <a:latin typeface="Calibri"/>
              </a:rPr>
              <a:t>→ the detector must catch the SYNTHESIS itself.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577840" cy="46634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Four artifacts LA spoofs leave behind</a:t>
            </a:r>
            <a:endParaRPr sz="19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12064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Spectral:  </a:t>
            </a:r>
            <a:r>
              <a:rPr sz="1300">
                <a:solidFill>
                  <a:srgbClr val="1E293B"/>
                </a:solidFill>
                <a:latin typeface="Calibri"/>
              </a:rPr>
              <a:t>over-smooth formants; vocoder cuts the high band → dull / metallic.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Temporal:  </a:t>
            </a:r>
            <a:r>
              <a:rPr sz="1300">
                <a:solidFill>
                  <a:srgbClr val="1E293B"/>
                </a:solidFill>
                <a:latin typeface="Calibri"/>
              </a:rPr>
              <a:t>irregular phoneme durations; autoregressive alignment slips → stutter.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Phase:  </a:t>
            </a:r>
            <a:r>
              <a:rPr sz="1300">
                <a:solidFill>
                  <a:srgbClr val="1E293B"/>
                </a:solidFill>
                <a:latin typeface="Calibri"/>
              </a:rPr>
              <a:t>magnitude-only vocoders invent phase (Griffin-Lim) → inconsistencies.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1E40AF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Prosodic:  </a:t>
            </a:r>
            <a:r>
              <a:rPr sz="1300">
                <a:solidFill>
                  <a:srgbClr val="1E293B"/>
                </a:solidFill>
                <a:latin typeface="Calibri"/>
              </a:rPr>
              <a:t>pitch (F0) too flat; stress / rhythm too regular; missing emotion.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5760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369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1E40AF"/>
                </a:solidFill>
                <a:latin typeface="Calibri"/>
              </a:rPr>
              <a:t>All four are exploitable because LA has no channel to hide behind.</a:t>
            </a:r>
            <a:endParaRPr sz="1700" i="0">
              <a:solidFill>
                <a:srgbClr val="1E40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PA TASK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Physical Access — Replay Through a Speaker + Room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What it is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Delivery:  </a:t>
            </a:r>
            <a:r>
              <a:rPr sz="1300">
                <a:solidFill>
                  <a:srgbClr val="1E293B"/>
                </a:solidFill>
                <a:latin typeface="Calibri"/>
              </a:rPr>
              <a:t>genuine speech played through a loudspeaker into the verification mic.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The signal IS real human speech</a:t>
            </a:r>
            <a:r>
              <a:rPr sz="1300">
                <a:solidFill>
                  <a:srgbClr val="1E293B"/>
                </a:solidFill>
                <a:latin typeface="Calibri"/>
              </a:rPr>
              <a:t>— words, prosody, timbre are genuine.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ASVspoof 2019 PA:  </a:t>
            </a:r>
            <a:r>
              <a:rPr sz="1300">
                <a:solidFill>
                  <a:srgbClr val="1E293B"/>
                </a:solidFill>
                <a:latin typeface="Calibri"/>
              </a:rPr>
              <a:t>26+ loudspeaker × room × microphone combinations.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No synthesis artifacts</a:t>
            </a:r>
            <a:r>
              <a:rPr sz="1300">
                <a:solidFill>
                  <a:srgbClr val="1E293B"/>
                </a:solidFill>
                <a:latin typeface="Calibri"/>
              </a:rPr>
              <a:t>→ the detector must catch the CHANNEL, not the synthesis.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577840" cy="46634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2563EB"/>
                </a:solidFill>
                <a:latin typeface="Calibri"/>
              </a:rPr>
              <a:t>Artifacts PA spoofs leave behind</a:t>
            </a:r>
            <a:endParaRPr sz="19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12064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Reverb:  </a:t>
            </a:r>
            <a:r>
              <a:rPr sz="1300">
                <a:solidFill>
                  <a:srgbClr val="1E293B"/>
                </a:solidFill>
                <a:latin typeface="Calibri"/>
              </a:rPr>
              <a:t>room impulse response adds echo tails and smearing.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Coloration:  </a:t>
            </a:r>
            <a:r>
              <a:rPr sz="1300">
                <a:solidFill>
                  <a:srgbClr val="1E293B"/>
                </a:solidFill>
                <a:latin typeface="Calibri"/>
              </a:rPr>
              <a:t>the loudspeaker's frequency response tints the signal.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Noise:  </a:t>
            </a:r>
            <a:r>
              <a:rPr sz="1300">
                <a:solidFill>
                  <a:srgbClr val="1E293B"/>
                </a:solidFill>
                <a:latin typeface="Calibri"/>
              </a:rPr>
              <a:t>ambient room noise + microphone self-noise.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Double encoding:  </a:t>
            </a:r>
            <a:r>
              <a:rPr sz="1300">
                <a:solidFill>
                  <a:srgbClr val="1E293B"/>
                </a:solidFill>
                <a:latin typeface="Calibri"/>
              </a:rPr>
              <a:t>the original was already digitized; re-recording adds a 2nd layer.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5760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5369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2563EB"/>
                </a:solidFill>
                <a:latin typeface="Calibri"/>
              </a:rPr>
              <a:t>Signal model:  y(t) = (h ∗ x)(t) + n(t)  — detect h and n, not x.</a:t>
            </a:r>
            <a:endParaRPr sz="1700" i="0">
              <a:solidFill>
                <a:srgbClr val="2563E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DF TASK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DeepFake — The Newest, Hardest Category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What it is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New in ASVspoof 2021:  </a:t>
            </a:r>
            <a:r>
              <a:rPr sz="1300">
                <a:solidFill>
                  <a:srgbClr val="1E293B"/>
                </a:solidFill>
                <a:latin typeface="Calibri"/>
              </a:rPr>
              <a:t>deepfake speech from entirely new, more advanced TTS/VC systems.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Difference from LA:  </a:t>
            </a:r>
            <a:r>
              <a:rPr sz="1300">
                <a:solidFill>
                  <a:srgbClr val="1E293B"/>
                </a:solidFill>
                <a:latin typeface="Calibri"/>
              </a:rPr>
              <a:t>DF systems are newer, more natural, harder to distinguish from genuine.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Real-world:  </a:t>
            </a:r>
            <a:r>
              <a:rPr sz="1300">
                <a:solidFill>
                  <a:srgbClr val="1E293B"/>
                </a:solidFill>
                <a:latin typeface="Calibri"/>
              </a:rPr>
              <a:t>TikTok voice clones, political deepfakes, scam calls.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Compression added:  </a:t>
            </a:r>
            <a:r>
              <a:rPr sz="1300">
                <a:solidFill>
                  <a:srgbClr val="1E293B"/>
                </a:solidFill>
                <a:latin typeface="Calibri"/>
              </a:rPr>
              <a:t>DF clips go through codecs (mp3, opus) → masks subtle artifacts.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577840" cy="46634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3B82F6"/>
                </a:solidFill>
                <a:latin typeface="Calibri"/>
              </a:rPr>
              <a:t>Why DF is the hardest</a:t>
            </a:r>
            <a:endParaRPr sz="19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12064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Better synthesis:  </a:t>
            </a:r>
            <a:r>
              <a:rPr sz="1300">
                <a:solidFill>
                  <a:srgbClr val="1E293B"/>
                </a:solidFill>
                <a:latin typeface="Calibri"/>
              </a:rPr>
              <a:t>the latest TTS leaves fewer spectral / phase traces.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Compression:  </a:t>
            </a:r>
            <a:r>
              <a:rPr sz="1300">
                <a:solidFill>
                  <a:srgbClr val="1E293B"/>
                </a:solidFill>
                <a:latin typeface="Calibri"/>
              </a:rPr>
              <a:t>codec effects mask whatever traces remain.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Cross-domain:  </a:t>
            </a:r>
            <a:r>
              <a:rPr sz="1300">
                <a:solidFill>
                  <a:srgbClr val="1E293B"/>
                </a:solidFill>
                <a:latin typeface="Calibri"/>
              </a:rPr>
              <a:t>models trained on 2019 LA fail on 2021 DF → EER jumps from ~1% to ~20%+.</a:t>
            </a:r>
            <a:endParaRPr sz="130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Open problem:  </a:t>
            </a:r>
            <a:r>
              <a:rPr sz="1300">
                <a:solidFill>
                  <a:srgbClr val="1E293B"/>
                </a:solidFill>
                <a:latin typeface="Calibri"/>
              </a:rPr>
              <a:t>generalizable DF detection is an active research frontier.</a:t>
            </a:r>
            <a:endParaRPr sz="130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DATASET SUMMARY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Dataset Summary — Where to Get the Data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68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749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i="1">
                <a:solidFill>
                  <a:srgbClr val="64748B"/>
                </a:solidFill>
                <a:latin typeface="Calibri"/>
              </a:rPr>
              <a:t>All links verified July 2024. Download from the official sites (some require registration).</a:t>
            </a:r>
            <a:endParaRPr sz="18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124712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FFFFFF"/>
                </a:solidFill>
                <a:latin typeface="Calibri"/>
              </a:rPr>
              <a:t>Dataset</a:t>
            </a:r>
            <a:endParaRPr sz="16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FFFFFF"/>
                </a:solidFill>
                <a:latin typeface="Calibri"/>
              </a:rPr>
              <a:t>Year</a:t>
            </a:r>
            <a:endParaRPr sz="16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360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FFFFFF"/>
                </a:solidFill>
                <a:latin typeface="Calibri"/>
              </a:rPr>
              <a:t>Tasks</a:t>
            </a:r>
            <a:endParaRPr sz="16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2160" y="19659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FFFFFF"/>
                </a:solidFill>
                <a:latin typeface="Calibri"/>
              </a:rPr>
              <a:t>Scale</a:t>
            </a:r>
            <a:endParaRPr sz="16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0" y="19659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FFFFFF"/>
                </a:solidFill>
                <a:latin typeface="Calibri"/>
              </a:rPr>
              <a:t>Where</a:t>
            </a:r>
            <a:endParaRPr sz="16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286000"/>
            <a:ext cx="1124712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0F172A"/>
                </a:solidFill>
                <a:latin typeface="Calibri"/>
              </a:rPr>
              <a:t>ASVspoof 2019</a:t>
            </a:r>
            <a:endParaRPr sz="16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08960" y="2331720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64748B"/>
                </a:solidFill>
                <a:latin typeface="Calibri"/>
              </a:rPr>
              <a:t>2019</a:t>
            </a:r>
            <a:endParaRPr sz="155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23360" y="2331720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1E293B"/>
                </a:solidFill>
                <a:latin typeface="Calibri"/>
              </a:rPr>
              <a:t>LA + PA</a:t>
            </a:r>
            <a:endParaRPr sz="15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60" y="2331720"/>
            <a:ext cx="2011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0">
                <a:solidFill>
                  <a:srgbClr val="1E293B"/>
                </a:solidFill>
                <a:latin typeface="Calibri"/>
              </a:rPr>
              <a:t>~20k train / ~71k eval</a:t>
            </a:r>
            <a:endParaRPr sz="15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80" y="2331720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0">
                <a:solidFill>
                  <a:srgbClr val="1E40AF"/>
                </a:solidFill>
                <a:latin typeface="Calibri"/>
              </a:rPr>
              <a:t>asvspoof.org  (Zenodo / Datashare)</a:t>
            </a:r>
            <a:endParaRPr sz="14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2889504"/>
            <a:ext cx="11247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35224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0F172A"/>
                </a:solidFill>
                <a:latin typeface="Calibri"/>
              </a:rPr>
              <a:t>ASVspoof 2021</a:t>
            </a:r>
            <a:endParaRPr sz="16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08960" y="2935224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64748B"/>
                </a:solidFill>
                <a:latin typeface="Calibri"/>
              </a:rPr>
              <a:t>2021</a:t>
            </a:r>
            <a:endParaRPr sz="155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23360" y="2935224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1E293B"/>
                </a:solidFill>
                <a:latin typeface="Calibri"/>
              </a:rPr>
              <a:t>LA + PA + DF</a:t>
            </a:r>
            <a:endParaRPr sz="15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52160" y="2935224"/>
            <a:ext cx="2011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0">
                <a:solidFill>
                  <a:srgbClr val="1E293B"/>
                </a:solidFill>
                <a:latin typeface="Calibri"/>
              </a:rPr>
              <a:t>similar + compression</a:t>
            </a:r>
            <a:endParaRPr sz="15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5280" y="2935224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0">
                <a:solidFill>
                  <a:srgbClr val="1E40AF"/>
                </a:solidFill>
                <a:latin typeface="Calibri"/>
              </a:rPr>
              <a:t>asvspoof.org  (Zenodo: 4835108)</a:t>
            </a:r>
            <a:endParaRPr sz="14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" y="3493008"/>
            <a:ext cx="1124712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3872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0F172A"/>
                </a:solidFill>
                <a:latin typeface="Calibri"/>
              </a:rPr>
              <a:t>WaveFake</a:t>
            </a:r>
            <a:endParaRPr sz="16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08960" y="3538728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64748B"/>
                </a:solidFill>
                <a:latin typeface="Calibri"/>
              </a:rPr>
              <a:t>2021</a:t>
            </a:r>
            <a:endParaRPr sz="155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23360" y="3538728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1E293B"/>
                </a:solidFill>
                <a:latin typeface="Calibri"/>
              </a:rPr>
              <a:t>6 TTS systems</a:t>
            </a:r>
            <a:endParaRPr sz="15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52160" y="3538728"/>
            <a:ext cx="2011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0">
                <a:solidFill>
                  <a:srgbClr val="1E293B"/>
                </a:solidFill>
                <a:latin typeface="Calibri"/>
              </a:rPr>
              <a:t>104k+ clips</a:t>
            </a:r>
            <a:endParaRPr sz="15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80" y="3538728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0">
                <a:solidFill>
                  <a:srgbClr val="1E40AF"/>
                </a:solidFill>
                <a:latin typeface="Calibri"/>
              </a:rPr>
              <a:t>github.com/RUB-SysSec/wavefake</a:t>
            </a:r>
            <a:endParaRPr sz="14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" y="4096512"/>
            <a:ext cx="11247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142232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0F172A"/>
                </a:solidFill>
                <a:latin typeface="Calibri"/>
              </a:rPr>
              <a:t>ADD 2023</a:t>
            </a:r>
            <a:endParaRPr sz="16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08960" y="414223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64748B"/>
                </a:solidFill>
                <a:latin typeface="Calibri"/>
              </a:rPr>
              <a:t>2023</a:t>
            </a:r>
            <a:endParaRPr sz="155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3360" y="4142232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1E293B"/>
                </a:solidFill>
                <a:latin typeface="Calibri"/>
              </a:rPr>
              <a:t>FG + RL + AR</a:t>
            </a:r>
            <a:endParaRPr sz="15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52160" y="4142232"/>
            <a:ext cx="2011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0">
                <a:solidFill>
                  <a:srgbClr val="1E293B"/>
                </a:solidFill>
                <a:latin typeface="Calibri"/>
              </a:rPr>
              <a:t>in-the-wild</a:t>
            </a:r>
            <a:endParaRPr sz="15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55280" y="4142232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0">
                <a:solidFill>
                  <a:srgbClr val="1E40AF"/>
                </a:solidFill>
                <a:latin typeface="Calibri"/>
              </a:rPr>
              <a:t>addchallenge.cn  (arXiv:2305.13774)</a:t>
            </a:r>
            <a:endParaRPr sz="145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0080" y="4700016"/>
            <a:ext cx="1124712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45736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i="0">
                <a:solidFill>
                  <a:srgbClr val="0F172A"/>
                </a:solidFill>
                <a:latin typeface="Calibri"/>
              </a:rPr>
              <a:t>AT-ADD</a:t>
            </a:r>
            <a:endParaRPr sz="165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08960" y="4745736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64748B"/>
                </a:solidFill>
                <a:latin typeface="Calibri"/>
              </a:rPr>
              <a:t>2024</a:t>
            </a:r>
            <a:endParaRPr sz="155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23360" y="4745736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115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i="0">
                <a:solidFill>
                  <a:srgbClr val="1E293B"/>
                </a:solidFill>
                <a:latin typeface="Calibri"/>
              </a:rPr>
              <a:t>robustness + generalization</a:t>
            </a:r>
            <a:endParaRPr sz="15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52160" y="4745736"/>
            <a:ext cx="20116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i="0">
                <a:solidFill>
                  <a:srgbClr val="1E293B"/>
                </a:solidFill>
                <a:latin typeface="Calibri"/>
              </a:rPr>
              <a:t>real-world</a:t>
            </a:r>
            <a:endParaRPr sz="15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55280" y="4745736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i="0">
                <a:solidFill>
                  <a:srgbClr val="1E40AF"/>
                </a:solidFill>
                <a:latin typeface="Calibri"/>
              </a:rPr>
              <a:t>at-add.com  (Codabench)</a:t>
            </a:r>
            <a:endParaRPr sz="1450" i="0">
              <a:solidFill>
                <a:srgbClr val="1E40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DBE5FA"/>
                </a:solidFill>
                <a:latin typeface="Calibri"/>
              </a:rPr>
              <a:t>MODULE 1</a:t>
            </a:r>
            <a:endParaRPr sz="180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0" i="0">
                <a:solidFill>
                  <a:srgbClr val="FFFFFF"/>
                </a:solidFill>
                <a:latin typeface="Calibri"/>
              </a:rPr>
              <a:t>07</a:t>
            </a:r>
            <a:endParaRPr sz="95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i="0">
                <a:solidFill>
                  <a:srgbClr val="DBE5FA"/>
                </a:solidFill>
                <a:latin typeface="Calibri"/>
              </a:rPr>
              <a:t>2:50 – 3:00  ·  10 min</a:t>
            </a:r>
            <a:endParaRPr sz="1750" i="0">
              <a:solidFill>
                <a:srgbClr val="DBE5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1874519"/>
            <a:ext cx="6400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i="0">
                <a:solidFill>
                  <a:srgbClr val="0F172A"/>
                </a:solidFill>
                <a:latin typeface="Calibri"/>
              </a:rPr>
              <a:t>Debrief, Key Takeaways &amp; Preview</a:t>
            </a:r>
            <a:endParaRPr sz="3600" i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i="0">
                <a:solidFill>
                  <a:srgbClr val="1E293B"/>
                </a:solidFill>
                <a:latin typeface="Calibri"/>
              </a:rPr>
              <a:t>Lab observations; Module 2 preview (raw waveform &amp; AASIST); homework.</a:t>
            </a:r>
            <a:endParaRPr sz="20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6172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64748B"/>
                </a:solidFill>
                <a:latin typeface="Calibri"/>
              </a:rPr>
              <a:t>Section 7 of 7</a:t>
            </a:r>
            <a:endParaRPr sz="170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4748B"/>
                </a:solidFill>
                <a:latin typeface="Calibri"/>
              </a:rPr>
              <a:t>69  /  79</a:t>
            </a:r>
            <a:endParaRPr sz="16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DEBRIEF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Debrief &amp; Module 2 Preview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70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48640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Lab observations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Hand-crafted features work —</a:t>
            </a:r>
            <a:r>
              <a:rPr sz="1350">
                <a:solidFill>
                  <a:srgbClr val="1E293B"/>
                </a:solidFill>
                <a:latin typeface="Calibri"/>
              </a:rPr>
              <a:t>MFCC + MLP catches obvious fakes (~10% EER).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But they generalize poorly</a:t>
            </a:r>
            <a:r>
              <a:rPr sz="1350">
                <a:solidFill>
                  <a:srgbClr val="1E293B"/>
                </a:solidFill>
                <a:latin typeface="Calibri"/>
              </a:rPr>
              <a:t>to unseen attack types.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Neural models are better</a:t>
            </a:r>
            <a:r>
              <a:rPr sz="1350">
                <a:solidFill>
                  <a:srgbClr val="1E293B"/>
                </a:solidFill>
                <a:latin typeface="Calibri"/>
              </a:rPr>
              <a:t>but need more data and compute.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Next step:</a:t>
            </a:r>
            <a:r>
              <a:rPr sz="1350">
                <a:solidFill>
                  <a:srgbClr val="1E293B"/>
                </a:solidFill>
                <a:latin typeface="Calibri"/>
              </a:rPr>
              <a:t>go beyond spectrograms — use the raw waveform.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864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106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i="0">
                <a:solidFill>
                  <a:srgbClr val="FFFFFF"/>
                </a:solidFill>
                <a:latin typeface="Calibri"/>
              </a:rPr>
              <a:t>Module 2 preview + homework</a:t>
            </a:r>
            <a:endParaRPr sz="1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3B82F6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Module 2:</a:t>
            </a:r>
            <a:r>
              <a:rPr sz="1350">
                <a:solidFill>
                  <a:srgbClr val="1E293B"/>
                </a:solidFill>
                <a:latin typeface="Calibri"/>
              </a:rPr>
              <a:t>raw waveform → SincNet → RawNet → AASIST.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3B82F6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Goal:</a:t>
            </a:r>
            <a:r>
              <a:rPr sz="1350">
                <a:solidFill>
                  <a:srgbClr val="1E293B"/>
                </a:solidFill>
                <a:latin typeface="Calibri"/>
              </a:rPr>
              <a:t>end-to-end learning, no hand-crafted features.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3B82F6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Homework:</a:t>
            </a:r>
            <a:r>
              <a:rPr sz="1350">
                <a:solidFill>
                  <a:srgbClr val="1E293B"/>
                </a:solidFill>
                <a:latin typeface="Calibri"/>
              </a:rPr>
              <a:t>read the AASIST paper (Jung et al., 2022).</a:t>
            </a:r>
            <a:endParaRPr sz="135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50">
                <a:solidFill>
                  <a:srgbClr val="3B82F6"/>
                </a:solidFill>
                <a:latin typeface="Calibri"/>
              </a:rPr>
              <a:t>▸  </a:t>
            </a:r>
            <a:r>
              <a:rPr sz="1350">
                <a:solidFill>
                  <a:srgbClr val="1E293B"/>
                </a:solidFill>
                <a:latin typeface="Calibri"/>
              </a:rPr>
              <a:t>Brainstorm:</a:t>
            </a:r>
            <a:r>
              <a:rPr sz="1350">
                <a:solidFill>
                  <a:srgbClr val="1E293B"/>
                </a:solidFill>
                <a:latin typeface="Calibri"/>
              </a:rPr>
              <a:t>a project with a societal angle (e.g., NGO fact-checking tool).</a:t>
            </a:r>
            <a:endParaRPr sz="135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COLAB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Full Detection Pipeline — Copy &amp; Run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73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408176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408176"/>
            <a:ext cx="109728" cy="109728"/>
          </a:xfrm>
          <a:prstGeom prst="rect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7008" y="1408176"/>
            <a:ext cx="109728" cy="109728"/>
          </a:xfrm>
          <a:prstGeom prst="rect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3533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2289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1">
                <a:solidFill>
                  <a:srgbClr val="9AA6BC"/>
                </a:solidFill>
                <a:latin typeface="Calibri"/>
              </a:rPr>
              <a:t>colab_deepfake_demo.py</a:t>
            </a:r>
            <a:endParaRPr sz="1600" i="1">
              <a:solidFill>
                <a:srgbClr val="9AA6B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10424160" cy="4526280"/>
          </a:xfrm>
          <a:prstGeom prst="rect">
            <a:avLst/>
          </a:prstGeom>
          <a:noFill/>
        </p:spPr>
        <p:txBody>
          <a:bodyPr wrap="none">
            <a:normAutofit fontScale="78696"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=== Audio Deepfake Detection — Full Colab Pipeline ===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1. Setup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!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pip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install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librosa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soundfile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scikit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learn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librosa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numpy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as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sklearn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neural_network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MLPClassifier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sklearn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metrics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roc_curve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auc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2. Extract MFCC features from each clip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def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features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path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: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librosa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load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path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   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return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librosa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feature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mfcc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n_mfcc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mean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axis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array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features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for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in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clip_paths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]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array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labels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                   </a:t>
            </a:r>
            <a:r>
              <a:rPr sz="1250">
                <a:solidFill>
                  <a:srgbClr val="64748B"/>
                </a:solidFill>
                <a:latin typeface="Menlo" panose="020B0609030804020204"/>
              </a:rPr>
              <a:t># 1 = bonafide, 0 = spoof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3. Split &amp; train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93C5FD"/>
                </a:solidFill>
                <a:latin typeface="Menlo" panose="020B0609030804020204"/>
              </a:rPr>
              <a:t>from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sklearn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model_selection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93C5FD"/>
                </a:solidFill>
                <a:latin typeface="Menlo" panose="020B0609030804020204"/>
              </a:rPr>
              <a:t>import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train_test_split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X_tr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X_te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y_tr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y_te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train_test_split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X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test_size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clf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MLPClassifier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hidden_layer_sizes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6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4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2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max_iter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3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0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clf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fit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X_tr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y_tr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latin typeface="Menlo" panose="020B0609030804020204"/>
              </a:rPr>
              <a:t> </a:t>
            </a:r>
            <a:endParaRPr sz="1250"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64748B"/>
                </a:solidFill>
                <a:latin typeface="Menlo" panose="020B0609030804020204"/>
              </a:rPr>
              <a:t># 4. Evaluate: EER + AUC</a:t>
            </a:r>
            <a:endParaRPr sz="1250">
              <a:solidFill>
                <a:srgbClr val="64748B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scores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clf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predict_proba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X_te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: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thresh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roc_curve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y_te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,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scores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eer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=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[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argmin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np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.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abs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1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-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 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tpr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]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E2E8F0"/>
                </a:solidFill>
                <a:latin typeface="Menlo" panose="020B0609030804020204"/>
              </a:rPr>
              <a:t>print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(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f</a:t>
            </a:r>
            <a:r>
              <a:rPr sz="1250">
                <a:solidFill>
                  <a:srgbClr val="86EFAC"/>
                </a:solidFill>
                <a:latin typeface="Menlo" panose="020B0609030804020204"/>
              </a:rPr>
              <a:t>"EER = {eer:.1%}   AUC = {auc(fpr, tpr):.3f}"</a:t>
            </a:r>
            <a:r>
              <a:rPr sz="1250">
                <a:solidFill>
                  <a:srgbClr val="E2E8F0"/>
                </a:solidFill>
                <a:latin typeface="Menlo" panose="020B0609030804020204"/>
              </a:rPr>
              <a:t>)</a:t>
            </a:r>
            <a:endParaRPr sz="1250">
              <a:solidFill>
                <a:srgbClr val="E2E8F0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EXAMPLE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Worked Example — Computing EER from Scores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74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728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" cy="4937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6176"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You have 6 test clips. Scores (higher = more likely real) and true labels:</a:t>
            </a:r>
            <a:endParaRPr sz="190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i="0">
                <a:solidFill>
                  <a:srgbClr val="1E293B"/>
                </a:solidFill>
                <a:latin typeface="Calibri"/>
              </a:rPr>
              <a:t>Clip A: 0.92 (real)  Clip B: 0.71 (real)  Clip C: 0.45 (fake)</a:t>
            </a:r>
            <a:endParaRPr sz="18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i="0">
                <a:solidFill>
                  <a:srgbClr val="1E293B"/>
                </a:solidFill>
                <a:latin typeface="Calibri"/>
              </a:rPr>
              <a:t>Clip D: 0.83 (real)  Clip E: 0.18 (fake)  Clip F: 0.61 (fake)</a:t>
            </a:r>
            <a:endParaRPr sz="180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10424160" cy="2926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1E40AF"/>
                </a:solidFill>
                <a:latin typeface="Calibri"/>
              </a:rPr>
              <a:t>Sort low to high:  </a:t>
            </a:r>
            <a:r>
              <a:rPr sz="1750" i="0">
                <a:solidFill>
                  <a:srgbClr val="1E293B"/>
                </a:solidFill>
                <a:latin typeface="Calibri"/>
              </a:rPr>
              <a:t>E=0.18(fake), C=0.45(fake), F=0.61(fake), B=0.71(real), D=0.83(real), A=0.92(real)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1E40AF"/>
                </a:solidFill>
                <a:latin typeface="Calibri"/>
              </a:rPr>
              <a:t>At threshold 0.66:  </a:t>
            </a:r>
            <a:r>
              <a:rPr sz="1750" i="0">
                <a:solidFill>
                  <a:srgbClr val="2563EB"/>
                </a:solidFill>
                <a:latin typeface="Calibri"/>
              </a:rPr>
              <a:t>accepts {B,D,A} = 3 real, rejects F(0.61,fake). FAR=0%, FRR=0%.</a:t>
            </a:r>
            <a:endParaRPr sz="1750" i="0">
              <a:solidFill>
                <a:srgbClr val="2563EB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1E40AF"/>
                </a:solidFill>
                <a:latin typeface="Calibri"/>
              </a:rPr>
              <a:t>At threshold 0.50:  </a:t>
            </a:r>
            <a:r>
              <a:rPr sz="1750" i="0">
                <a:solidFill>
                  <a:srgbClr val="1E40AF"/>
                </a:solidFill>
                <a:latin typeface="Calibri"/>
              </a:rPr>
              <a:t>accepts {F,B,D,A} but F is fake! FAR=33%, FRR=0%.</a:t>
            </a:r>
            <a:endParaRPr sz="1750" i="0">
              <a:solidFill>
                <a:srgbClr val="1E40AF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1E40AF"/>
                </a:solidFill>
                <a:latin typeface="Calibri"/>
              </a:rPr>
              <a:t>EER is where FAR = FRR.  </a:t>
            </a:r>
            <a:r>
              <a:rPr sz="1750" i="0">
                <a:solidFill>
                  <a:srgbClr val="1E293B"/>
                </a:solidFill>
                <a:latin typeface="Calibri"/>
              </a:rPr>
              <a:t>Here scores barely overlap, so EER is near 0%.</a:t>
            </a:r>
            <a:endParaRPr sz="17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700" i="0">
                <a:solidFill>
                  <a:srgbClr val="64748B"/>
                </a:solidFill>
                <a:latin typeface="Calibri"/>
              </a:rPr>
              <a:t>In real systems scores overlap heavily; EER of 1-10% is typical.</a:t>
            </a:r>
            <a:endParaRPr sz="170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EXAMPLE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Worked Example — ASVspoof Generalization Gap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75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728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" cy="4937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42416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Scenario:  </a:t>
            </a:r>
            <a:r>
              <a:rPr sz="1900" i="0">
                <a:solidFill>
                  <a:srgbClr val="1E293B"/>
                </a:solidFill>
                <a:latin typeface="Calibri"/>
              </a:rPr>
              <a:t>Your team trains a CNN on ASVspoof 2019 LA train (6 known spoof systems).</a:t>
            </a:r>
            <a:endParaRPr sz="19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Results:  </a:t>
            </a:r>
            <a:r>
              <a:rPr sz="1900" i="0">
                <a:solidFill>
                  <a:srgbClr val="1E293B"/>
                </a:solidFill>
                <a:latin typeface="Calibri"/>
              </a:rPr>
              <a:t>EER on train = 1.2%  |  EER on eval = 14.8%</a:t>
            </a:r>
            <a:endParaRPr sz="19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Q1: Why is eval EER so much higher?</a:t>
            </a:r>
            <a:endParaRPr sz="190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2563EB"/>
                </a:solidFill>
                <a:latin typeface="Calibri"/>
              </a:rPr>
              <a:t>A1:  </a:t>
            </a:r>
            <a:r>
              <a:rPr sz="1800" i="0">
                <a:solidFill>
                  <a:srgbClr val="1E293B"/>
                </a:solidFill>
                <a:latin typeface="Calibri"/>
              </a:rPr>
              <a:t>Eval has 13+ UNSEEN systems. Model memorized the 6 known fingerprints but cannot generalize.</a:t>
            </a:r>
            <a:endParaRPr sz="18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Q2: Boss says add eval systems to training. Why wrong?</a:t>
            </a:r>
            <a:endParaRPr sz="190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2563EB"/>
                </a:solidFill>
                <a:latin typeface="Calibri"/>
              </a:rPr>
              <a:t>A2:  </a:t>
            </a:r>
            <a:r>
              <a:rPr sz="1800" i="0">
                <a:solidFill>
                  <a:srgbClr val="1E293B"/>
                </a:solidFill>
                <a:latin typeface="Calibri"/>
              </a:rPr>
              <a:t>Eval tests generalization. Train on eval = testing memorization, not robustness.</a:t>
            </a:r>
            <a:endParaRPr sz="180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Q3: How to improve 14.8%?</a:t>
            </a:r>
            <a:endParaRPr sz="190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i="0">
                <a:solidFill>
                  <a:srgbClr val="2563EB"/>
                </a:solidFill>
                <a:latin typeface="Calibri"/>
              </a:rPr>
              <a:t>A3:  </a:t>
            </a:r>
            <a:r>
              <a:rPr sz="1800" i="0">
                <a:solidFill>
                  <a:srgbClr val="1E293B"/>
                </a:solidFill>
                <a:latin typeface="Calibri"/>
              </a:rPr>
              <a:t>Augmentation (codecs, noise), Wav2Vec2 features, or multi-dataset training.</a:t>
            </a:r>
            <a:endParaRPr sz="180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M1  ·  EXAMPLE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Worked Example — Classify the Attack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76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9728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" cy="49377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42416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0F172A"/>
                </a:solidFill>
                <a:latin typeface="Calibri"/>
              </a:rPr>
              <a:t>Three voice clips arrive at a bank voice system:</a:t>
            </a:r>
            <a:endParaRPr sz="190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(A) Customer real voicemail played through laptop speaker into phone.</a:t>
            </a:r>
            <a:endParaRPr sz="18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(B) AI voice file of CEO sent via bank website API.</a:t>
            </a:r>
            <a:endParaRPr sz="18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1E293B"/>
                </a:solidFill>
                <a:latin typeface="Calibri"/>
              </a:rPr>
              <a:t>(C) Live call with real-time voice changer to sound like customer.</a:t>
            </a:r>
            <a:endParaRPr sz="18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900" i="0">
                <a:solidFill>
                  <a:srgbClr val="1E40AF"/>
                </a:solidFill>
                <a:latin typeface="Calibri"/>
              </a:rPr>
              <a:t>Answers:</a:t>
            </a:r>
            <a:endParaRPr sz="1900" i="0">
              <a:solidFill>
                <a:srgbClr val="1E40AF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2563EB"/>
                </a:solidFill>
                <a:latin typeface="Calibri"/>
              </a:rPr>
              <a:t>(A) Replay  </a:t>
            </a:r>
            <a:r>
              <a:rPr sz="1850" i="0">
                <a:solidFill>
                  <a:srgbClr val="1E293B"/>
                </a:solidFill>
                <a:latin typeface="Calibri"/>
              </a:rPr>
              <a:t>— catch the channel (reverb, coloration).</a:t>
            </a:r>
            <a:endParaRPr sz="18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2563EB"/>
                </a:solidFill>
                <a:latin typeface="Calibri"/>
              </a:rPr>
              <a:t>(B) Logical Access  </a:t>
            </a:r>
            <a:r>
              <a:rPr sz="1850" i="0">
                <a:solidFill>
                  <a:srgbClr val="1E293B"/>
                </a:solidFill>
                <a:latin typeface="Calibri"/>
              </a:rPr>
              <a:t>— catch synthesis artifacts (spectral, phase).</a:t>
            </a:r>
            <a:endParaRPr sz="1850" i="0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50" i="0">
                <a:solidFill>
                  <a:srgbClr val="2563EB"/>
                </a:solidFill>
                <a:latin typeface="Calibri"/>
              </a:rPr>
              <a:t>(C) Logical Access (VC)  </a:t>
            </a:r>
            <a:r>
              <a:rPr sz="1850" i="0">
                <a:solidFill>
                  <a:srgbClr val="1E293B"/>
                </a:solidFill>
                <a:latin typeface="Calibri"/>
              </a:rPr>
              <a:t>— catch synthesis + latency artifacts.</a:t>
            </a:r>
            <a:endParaRPr sz="185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9231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i="0">
                <a:solidFill>
                  <a:srgbClr val="BFDBFE"/>
                </a:solidFill>
                <a:latin typeface="Calibri"/>
              </a:rPr>
              <a:t>WRAP-UP</a:t>
            </a:r>
            <a:endParaRPr sz="17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837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900" i="0">
                <a:solidFill>
                  <a:srgbClr val="FFFFFF"/>
                </a:solidFill>
                <a:latin typeface="Calibri"/>
              </a:rPr>
              <a:t>Key Takeaways</a:t>
            </a:r>
            <a:endParaRPr sz="29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4337"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BFDBFE"/>
                </a:solidFill>
                <a:latin typeface="Calibri"/>
              </a:rPr>
              <a:t>77  /  79</a:t>
            </a:r>
            <a:endParaRPr sz="16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46504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714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1E40AF"/>
                </a:solidFill>
                <a:latin typeface="Calibri"/>
              </a:rPr>
              <a:t>Synthetic voice is cheap and convincing.</a:t>
            </a:r>
            <a:endParaRPr sz="2200" i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3279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TTS turns text into speech; VC swaps the speaker from seconds of audio — good enough to fool the ear and the phone.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728" cy="1234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18104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714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3B82F6"/>
                </a:solidFill>
                <a:latin typeface="Calibri"/>
              </a:rPr>
              <a:t>A fake reaches the system in one of two ways — and that decides how you catch it.</a:t>
            </a:r>
            <a:endParaRPr sz="2200" i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3279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A digital file (Logical Access) has no mic/room to hide behind → catch the synthesis. A re-played real recording (Replay) sounds human → catch the channel.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89704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714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i="0">
                <a:solidFill>
                  <a:srgbClr val="2563EB"/>
                </a:solidFill>
                <a:latin typeface="Calibri"/>
              </a:rPr>
              <a:t>Detection is a yes/no classifier scored by EER.</a:t>
            </a:r>
            <a:endParaRPr sz="2200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63279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950" i="0">
                <a:solidFill>
                  <a:srgbClr val="1E293B"/>
                </a:solidFill>
                <a:latin typeface="Calibri"/>
              </a:rPr>
              <a:t>Extract features → score → compare to a threshold; EER is where wrong-accepts equal wrong-rejects — lower is better.</a:t>
            </a:r>
            <a:endParaRPr sz="1950" i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BFDBFE"/>
                </a:solidFill>
                <a:latin typeface="Calibri"/>
              </a:rPr>
              <a:t>REFERENCES  ·  1 / 2  ·  TTS &amp; Vocoders</a:t>
            </a:r>
            <a:endParaRPr sz="12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FFFFFF"/>
                </a:solidFill>
                <a:latin typeface="Calibri"/>
              </a:rPr>
              <a:t>References</a:t>
            </a:r>
            <a:endParaRPr sz="24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BFDBFE"/>
                </a:solidFill>
                <a:latin typeface="Calibri"/>
              </a:rPr>
              <a:t>78  /  79</a:t>
            </a:r>
            <a:endParaRPr sz="11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532120" cy="4709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1.  </a:t>
            </a:r>
            <a:r>
              <a:rPr sz="1200" i="0">
                <a:solidFill>
                  <a:srgbClr val="1E293B"/>
                </a:solidFill>
                <a:latin typeface="Calibri"/>
              </a:rPr>
              <a:t>van den Oord, A., et al. (2016). WaveNet: a generative model for raw audio. </a:t>
            </a:r>
            <a:r>
              <a:rPr sz="1200" i="1">
                <a:solidFill>
                  <a:srgbClr val="1E293B"/>
                </a:solidFill>
                <a:latin typeface="Calibri"/>
              </a:rPr>
              <a:t>Preprint.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2.  </a:t>
            </a:r>
            <a:r>
              <a:rPr sz="1200" i="0">
                <a:solidFill>
                  <a:srgbClr val="1E293B"/>
                </a:solidFill>
                <a:latin typeface="Calibri"/>
              </a:rPr>
              <a:t>Shen, J., et al. (2018). Natural TTS synthesis by conditioning WaveNet on mel-spectrogram predictions.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ICASSP.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3.  </a:t>
            </a:r>
            <a:r>
              <a:rPr sz="1200" i="0">
                <a:solidFill>
                  <a:srgbClr val="1E293B"/>
                </a:solidFill>
                <a:latin typeface="Calibri"/>
              </a:rPr>
              <a:t>Ren, Y., et al. (2019). FastSpeech: fast, robust and controllable text to speech.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NeurIPS.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4.  </a:t>
            </a:r>
            <a:r>
              <a:rPr sz="1200" i="0">
                <a:solidFill>
                  <a:srgbClr val="1E293B"/>
                </a:solidFill>
                <a:latin typeface="Calibri"/>
              </a:rPr>
              <a:t>Kim, J., et al. (2021). A conditional variational autoencoder with adversarial learning for end-to-end TTS (VITS).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NeurIPS.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5.  </a:t>
            </a:r>
            <a:r>
              <a:rPr sz="1200" i="0">
                <a:solidFill>
                  <a:srgbClr val="1E293B"/>
                </a:solidFill>
                <a:latin typeface="Calibri"/>
              </a:rPr>
              <a:t>Wang, C., et al. (2023). VALL-E: neural codec language models for zero-shot text-to-speech synthesis. </a:t>
            </a:r>
            <a:r>
              <a:rPr sz="1200" i="1">
                <a:solidFill>
                  <a:srgbClr val="1E293B"/>
                </a:solidFill>
                <a:latin typeface="Calibri"/>
              </a:rPr>
              <a:t>Preprint.</a:t>
            </a:r>
            <a:endParaRPr sz="1200" i="1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66360" cy="4709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6.  </a:t>
            </a:r>
            <a:r>
              <a:rPr sz="1200" i="0">
                <a:solidFill>
                  <a:srgbClr val="1E293B"/>
                </a:solidFill>
                <a:latin typeface="Calibri"/>
              </a:rPr>
              <a:t>Le, M., et al. (2023). Voicebox: text-guided multilingual universal speech generation.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Preprint.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7.  </a:t>
            </a:r>
            <a:r>
              <a:rPr sz="1200" i="0">
                <a:solidFill>
                  <a:srgbClr val="1E293B"/>
                </a:solidFill>
                <a:latin typeface="Calibri"/>
              </a:rPr>
              <a:t>Ao, J., et al. (2022). SpeechT5: unified-modal encoder-decoder pre-training for spoken language processing.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ACL.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8.  </a:t>
            </a:r>
            <a:r>
              <a:rPr sz="1200" i="0">
                <a:solidFill>
                  <a:srgbClr val="1E293B"/>
                </a:solidFill>
                <a:latin typeface="Calibri"/>
              </a:rPr>
              <a:t>Hunt, A. J., &amp; Black, A. W. (1996). Unit selection in a concatenative speech synthesis system using a large acoustic database.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ICASSP.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9.  </a:t>
            </a:r>
            <a:r>
              <a:rPr sz="1200" i="0">
                <a:solidFill>
                  <a:srgbClr val="1E293B"/>
                </a:solidFill>
                <a:latin typeface="Calibri"/>
              </a:rPr>
              <a:t>Griffin, D. W., &amp; Lim, J. S. (1983). Signal estimation from modified short-time Fourier transform. </a:t>
            </a:r>
            <a:r>
              <a:rPr sz="1200" i="1">
                <a:solidFill>
                  <a:srgbClr val="1E293B"/>
                </a:solidFill>
                <a:latin typeface="Calibri"/>
              </a:rPr>
              <a:t>IEEE Trans. ASSP, 31(2), 236–243.</a:t>
            </a:r>
            <a:endParaRPr sz="1200" i="1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4748B"/>
                </a:solidFill>
                <a:latin typeface="Calibri"/>
              </a:rPr>
              <a:t>Continued on next page  →</a:t>
            </a:r>
            <a:endParaRPr sz="10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BFDBFE"/>
                </a:solidFill>
                <a:latin typeface="Calibri"/>
              </a:rPr>
              <a:t>REFERENCES  ·  2 / 2  ·  Voice Conversion · Features · Evaluation</a:t>
            </a:r>
            <a:endParaRPr sz="12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FFFFFF"/>
                </a:solidFill>
                <a:latin typeface="Calibri"/>
              </a:rPr>
              <a:t>References</a:t>
            </a:r>
            <a:endParaRPr sz="240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BFDBFE"/>
                </a:solidFill>
                <a:latin typeface="Calibri"/>
              </a:rPr>
              <a:t>79  /  79</a:t>
            </a:r>
            <a:endParaRPr sz="1100" i="0">
              <a:solidFill>
                <a:srgbClr val="BFDBF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532120" cy="4709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10.  </a:t>
            </a:r>
            <a:r>
              <a:rPr sz="1200" i="0">
                <a:solidFill>
                  <a:srgbClr val="1E293B"/>
                </a:solidFill>
                <a:latin typeface="Calibri"/>
              </a:rPr>
              <a:t>Kameoka, H., et al. (2018). StarGAN-VC: non-parallel many-to-many voice conversion using StarGAN.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IEEE SLT.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11.  </a:t>
            </a:r>
            <a:r>
              <a:rPr sz="1200" i="0">
                <a:solidFill>
                  <a:srgbClr val="1E293B"/>
                </a:solidFill>
                <a:latin typeface="Calibri"/>
              </a:rPr>
              <a:t>Kaneko, T., &amp; Kameoka, H. (2018). CycleGAN-VC: non-parallel voice conversion using cycle-consistent adversarial networks.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APSIPA ASC.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12.  </a:t>
            </a:r>
            <a:r>
              <a:rPr sz="1200" i="0">
                <a:solidFill>
                  <a:srgbClr val="1E293B"/>
                </a:solidFill>
                <a:latin typeface="Calibri"/>
              </a:rPr>
              <a:t>Qian, K., et al. (2019). AutoVC: zero-shot voice style transfer with only autoencoder loss.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ICML.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13.  </a:t>
            </a:r>
            <a:r>
              <a:rPr sz="1200" i="0">
                <a:solidFill>
                  <a:srgbClr val="1E293B"/>
                </a:solidFill>
                <a:latin typeface="Calibri"/>
              </a:rPr>
              <a:t>Snyder, D., et al. (2018). X-vectors: robust DNN embeddings for speaker recognition.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ICASSP.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14.  </a:t>
            </a:r>
            <a:r>
              <a:rPr sz="1200" i="0">
                <a:solidFill>
                  <a:srgbClr val="1E293B"/>
                </a:solidFill>
                <a:latin typeface="Calibri"/>
              </a:rPr>
              <a:t>Davis, S. B., &amp; Mermelstein, P. (1980). Comparison of parametric representations for monosyllabic word recognition.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IEEE Trans. ASSP, 28(4), 357–366.</a:t>
            </a:r>
            <a:endParaRPr sz="1200" i="1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66360" cy="4709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15.  </a:t>
            </a:r>
            <a:r>
              <a:rPr sz="1200" i="0">
                <a:solidFill>
                  <a:srgbClr val="1E293B"/>
                </a:solidFill>
                <a:latin typeface="Calibri"/>
              </a:rPr>
              <a:t>Todisco, M., et al. (2017). Constant-Q cepstral coefficients: a spoofing countermeasure for automatic speaker verification.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Computer Speech &amp; Language, 45, 145–156.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16.  </a:t>
            </a:r>
            <a:r>
              <a:rPr sz="1200" i="0">
                <a:solidFill>
                  <a:srgbClr val="1E293B"/>
                </a:solidFill>
                <a:latin typeface="Calibri"/>
              </a:rPr>
              <a:t>Todisco, M., et al. (2019). ASVspoof 2019: future horizons in spoofed and fake audio detection.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INTERSPEECH.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17.  </a:t>
            </a:r>
            <a:r>
              <a:rPr sz="1200" i="0">
                <a:solidFill>
                  <a:srgbClr val="1E293B"/>
                </a:solidFill>
                <a:latin typeface="Calibri"/>
              </a:rPr>
              <a:t>Yamagishi, J., et al. (2021). ASVspoof 2021: accelerating progress in spoofed and deepfake speech detection.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ASVspoof Workshop, INTERSPEECH.</a:t>
            </a:r>
            <a:endParaRPr sz="1200" i="1">
              <a:solidFill>
                <a:srgbClr val="1E293B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i="0">
                <a:solidFill>
                  <a:srgbClr val="0F172A"/>
                </a:solidFill>
                <a:latin typeface="Calibri"/>
              </a:rPr>
              <a:t>18.  </a:t>
            </a:r>
            <a:r>
              <a:rPr sz="1200" i="0">
                <a:solidFill>
                  <a:srgbClr val="1E293B"/>
                </a:solidFill>
                <a:latin typeface="Calibri"/>
              </a:rPr>
              <a:t>Kinnunen, T., et al. (2018). T-DCF: a detection cost function for the tandem assessment of spoofing countermeasures and ASV. </a:t>
            </a:r>
            <a:r>
              <a:rPr sz="1200" i="1">
                <a:solidFill>
                  <a:srgbClr val="1E293B"/>
                </a:solidFill>
                <a:latin typeface="Calibri"/>
              </a:rPr>
              <a:t>Proc. Odyssey.</a:t>
            </a:r>
            <a:endParaRPr sz="1200" i="1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4748B"/>
                </a:solidFill>
                <a:latin typeface="Calibri"/>
              </a:rPr>
              <a:t>Venues:  </a:t>
            </a:r>
            <a:r>
              <a:rPr sz="1000" i="1">
                <a:solidFill>
                  <a:srgbClr val="64748B"/>
                </a:solidFill>
                <a:latin typeface="Calibri"/>
              </a:rPr>
              <a:t>ICASSP · INTERSPEECH · NeurIPS · ICML · ACL · IEEE SLT · APSIPA · Odyssey</a:t>
            </a:r>
            <a:endParaRPr sz="100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50651</Words>
  <Application>WPS 演示</Application>
  <PresentationFormat>On-screen Show (4:3)</PresentationFormat>
  <Paragraphs>1920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3" baseType="lpstr">
      <vt:lpstr>Arial</vt:lpstr>
      <vt:lpstr>新細明體</vt:lpstr>
      <vt:lpstr>Wingdings</vt:lpstr>
      <vt:lpstr>Arial</vt:lpstr>
      <vt:lpstr>Calibri</vt:lpstr>
      <vt:lpstr>Helvetica Neue</vt:lpstr>
      <vt:lpstr>Microsoft YaHei</vt:lpstr>
      <vt:lpstr>汉仪旗黑</vt:lpstr>
      <vt:lpstr>SimSun</vt:lpstr>
      <vt:lpstr>汉仪书宋二KW</vt:lpstr>
      <vt:lpstr>Arial Unicode MS</vt:lpstr>
      <vt:lpstr>宋体-繁</vt:lpstr>
      <vt:lpstr>Menlo</vt:lpstr>
      <vt:lpstr>Menlo</vt:lpstr>
      <vt:lpstr>新細明體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刘洋杨</cp:lastModifiedBy>
  <cp:revision>11</cp:revision>
  <dcterms:created xsi:type="dcterms:W3CDTF">2026-08-09T16:18:33Z</dcterms:created>
  <dcterms:modified xsi:type="dcterms:W3CDTF">2026-08-09T16:18:33Z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3076-12.1.25195.25195</vt:lpwstr>
  </property>
  <property fmtid="{D5CDD505-2E9C-101B-9397-08002B2CF9AE}" pid="3" name="ICV">
    <vt:lpwstr>CAC71A7694DF2BB2E5066B6A8A8388D8_42</vt:lpwstr>
  </property>
</Properties>
</file>